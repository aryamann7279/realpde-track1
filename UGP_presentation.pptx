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Shape 100"/>
          <p:cNvSpPr/>
          <p:nvPr>
            <p:ph type="sldImg"/>
          </p:nvPr>
        </p:nvSpPr>
        <p:spPr>
          <a:prstGeom prst="rect">
            <a:avLst/>
          </a:prstGeom>
        </p:spPr>
        <p:txBody>
          <a:bodyPr/>
          <a:lstStyle/>
          <a:p>
            <a:pPr/>
          </a:p>
        </p:txBody>
      </p:sp>
      <p:sp>
        <p:nvSpPr>
          <p:cNvPr id="101" name="Shape 101"/>
          <p:cNvSpPr/>
          <p:nvPr>
            <p:ph type="body" sz="quarter" idx="1"/>
          </p:nvPr>
        </p:nvSpPr>
        <p:spPr>
          <a:prstGeom prst="rect">
            <a:avLst/>
          </a:prstGeom>
        </p:spPr>
        <p:txBody>
          <a:bodyPr/>
          <a:lstStyle/>
          <a:p>
            <a:pPr/>
            <a:r>
              <a:t>Title slide. One line of context: this is an international competition run alongside NeurIPS, and the data is real water-tunnel PIV, not simulation.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Shape 130"/>
          <p:cNvSpPr/>
          <p:nvPr>
            <p:ph type="sldImg"/>
          </p:nvPr>
        </p:nvSpPr>
        <p:spPr>
          <a:prstGeom prst="rect">
            <a:avLst/>
          </a:prstGeom>
        </p:spPr>
        <p:txBody>
          <a:bodyPr/>
          <a:lstStyle/>
          <a:p>
            <a:pPr/>
          </a:p>
        </p:txBody>
      </p:sp>
      <p:sp>
        <p:nvSpPr>
          <p:cNvPr id="131" name="Shape 131"/>
          <p:cNvSpPr/>
          <p:nvPr>
            <p:ph type="body" sz="quarter" idx="1"/>
          </p:nvPr>
        </p:nvSpPr>
        <p:spPr>
          <a:prstGeom prst="rect">
            <a:avLst/>
          </a:prstGeom>
        </p:spPr>
        <p:txBody>
          <a:bodyPr/>
          <a:lstStyle/>
          <a:p>
            <a:pPr/>
            <a:r>
              <a:t>Roadmap. Flag that the first half is deliberately slow for people without an ML background, and the second half is results and positioning.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Shape 144"/>
          <p:cNvSpPr/>
          <p:nvPr>
            <p:ph type="sldImg"/>
          </p:nvPr>
        </p:nvSpPr>
        <p:spPr>
          <a:prstGeom prst="rect">
            <a:avLst/>
          </a:prstGeom>
        </p:spPr>
        <p:txBody>
          <a:bodyPr/>
          <a:lstStyle/>
          <a:p>
            <a:pPr/>
          </a:p>
        </p:txBody>
      </p:sp>
      <p:sp>
        <p:nvSpPr>
          <p:cNvPr id="145" name="Shape 145"/>
          <p:cNvSpPr/>
          <p:nvPr>
            <p:ph type="body" sz="quarter" idx="1"/>
          </p:nvPr>
        </p:nvSpPr>
        <p:spPr>
          <a:prstGeom prst="rect">
            <a:avLst/>
          </a:prstGeom>
        </p:spPr>
        <p:txBody>
          <a:bodyPr/>
          <a:lstStyle/>
          <a:p>
            <a:pPr/>
            <a:r>
              <a:t>Walk them through the picture. NACA4418 airfoil, 20 degrees angle of attack, Re 13,950. Blue is slow fluid, red is fast. The dark blue lobe is the separated wake. Note the speckle — that is genuine measurement noise from the PIV cross-correlation, not a rendering artefact. The task is: see the top three frames (and 17 others), produce the bottom three (and 17 others). Twenty frames in, twenty frames out. Mention that in the real competition the test runs are at Reynolds numbers we never trained 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hape 175"/>
          <p:cNvSpPr/>
          <p:nvPr>
            <p:ph type="sldImg"/>
          </p:nvPr>
        </p:nvSpPr>
        <p:spPr>
          <a:prstGeom prst="rect">
            <a:avLst/>
          </a:prstGeom>
        </p:spPr>
        <p:txBody>
          <a:bodyPr/>
          <a:lstStyle/>
          <a:p>
            <a:pPr/>
          </a:p>
        </p:txBody>
      </p:sp>
      <p:sp>
        <p:nvSpPr>
          <p:cNvPr id="176" name="Shape 176"/>
          <p:cNvSpPr/>
          <p:nvPr>
            <p:ph type="body" sz="quarter" idx="1"/>
          </p:nvPr>
        </p:nvSpPr>
        <p:spPr>
          <a:prstGeom prst="rect">
            <a:avLst/>
          </a:prstGeom>
        </p:spPr>
        <p:txBody>
          <a:bodyPr/>
          <a:lstStyle/>
          <a:p>
            <a:pPr/>
            <a:r>
              <a:t>Keep this short. The one number that matters is the last line: the test set extrapolates beyond the training range in Reynolds number, so this is not interpolation. Pressure is in the tensor but identically zero — PIV cannot measure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Shape 189"/>
          <p:cNvSpPr/>
          <p:nvPr>
            <p:ph type="sldImg"/>
          </p:nvPr>
        </p:nvSpPr>
        <p:spPr>
          <a:prstGeom prst="rect">
            <a:avLst/>
          </a:prstGeom>
        </p:spPr>
        <p:txBody>
          <a:bodyPr/>
          <a:lstStyle/>
          <a:p>
            <a:pPr/>
          </a:p>
        </p:txBody>
      </p:sp>
      <p:sp>
        <p:nvSpPr>
          <p:cNvPr id="190" name="Shape 190"/>
          <p:cNvSpPr/>
          <p:nvPr>
            <p:ph type="body" sz="quarter" idx="1"/>
          </p:nvPr>
        </p:nvSpPr>
        <p:spPr>
          <a:prstGeom prst="rect">
            <a:avLst/>
          </a:prstGeom>
        </p:spPr>
        <p:txBody>
          <a:bodyPr/>
          <a:lstStyle/>
          <a:p>
            <a:pPr/>
            <a:r>
              <a:t>Make the deliverable concrete before talking about methods. We submit a zip containing model weights plus a Python file exposing one function, predict(). The graders run it inside an isolated container with no internet, PyTorch and NumPy only, and a 5-minute budget. It returns three arrays: the forecast, and a lower and upper bound for every single value. The size bar shows why everything is tight: the forecasting model alone eats 201 of the 256 MB, which is why we could never simply ensemble several models.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hape 211"/>
          <p:cNvSpPr/>
          <p:nvPr>
            <p:ph type="sldImg"/>
          </p:nvPr>
        </p:nvSpPr>
        <p:spPr>
          <a:prstGeom prst="rect">
            <a:avLst/>
          </a:prstGeom>
        </p:spPr>
        <p:txBody>
          <a:bodyPr/>
          <a:lstStyle/>
          <a:p>
            <a:pPr/>
          </a:p>
        </p:txBody>
      </p:sp>
      <p:sp>
        <p:nvSpPr>
          <p:cNvPr id="212" name="Shape 212"/>
          <p:cNvSpPr/>
          <p:nvPr>
            <p:ph type="body" sz="quarter" idx="1"/>
          </p:nvPr>
        </p:nvSpPr>
        <p:spPr>
          <a:prstGeom prst="rect">
            <a:avLst/>
          </a:prstGeom>
        </p:spPr>
        <p:txBody>
          <a:bodyPr/>
          <a:lstStyle/>
          <a:p>
            <a:pPr/>
            <a:r>
              <a:t>On the third point — the plot shows one row of one frame. The jitter is measurement noise. No model can predict that, so a floor on achievable error exists. This becomes important later: it is why chasing accuracy forever does not pay, and why the uncertainty channel is where the value is.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237"/>
          <p:cNvSpPr/>
          <p:nvPr>
            <p:ph type="sldImg"/>
          </p:nvPr>
        </p:nvSpPr>
        <p:spPr>
          <a:prstGeom prst="rect">
            <a:avLst/>
          </a:prstGeom>
        </p:spPr>
        <p:txBody>
          <a:bodyPr/>
          <a:lstStyle/>
          <a:p>
            <a:pPr/>
          </a:p>
        </p:txBody>
      </p:sp>
      <p:sp>
        <p:nvSpPr>
          <p:cNvPr id="238" name="Shape 238"/>
          <p:cNvSpPr/>
          <p:nvPr>
            <p:ph type="body" sz="quarter" idx="1"/>
          </p:nvPr>
        </p:nvSpPr>
        <p:spPr>
          <a:prstGeom prst="rect">
            <a:avLst/>
          </a:prstGeom>
        </p:spPr>
        <p:txBody>
          <a:bodyPr/>
          <a:lstStyle/>
          <a:p>
            <a:pPr/>
            <a:r>
              <a:t>This slide explains the whole working style. With 24 hours between measurements you cannot iterate by trial and error — you must predict, submit, then reconcile. Most of what follows is the consequence of that constraint.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a:r>
              <a:t>The organisers publish the five channel scores but not how they combine into the final number. We solved for the weights by least squares across 40 leaderboard rows and got a fit accurate to 0.005. That is what let us decide where to spend effort — and it showed the uncertainty channel, which we had been ignoring, was worth 24.7%.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282"/>
          <p:cNvSpPr/>
          <p:nvPr>
            <p:ph type="sldImg"/>
          </p:nvPr>
        </p:nvSpPr>
        <p:spPr>
          <a:prstGeom prst="rect">
            <a:avLst/>
          </a:prstGeom>
        </p:spPr>
        <p:txBody>
          <a:bodyPr/>
          <a:lstStyle/>
          <a:p>
            <a:pPr/>
          </a:p>
        </p:txBody>
      </p:sp>
      <p:sp>
        <p:nvSpPr>
          <p:cNvPr id="283" name="Shape 283"/>
          <p:cNvSpPr/>
          <p:nvPr>
            <p:ph type="body" sz="quarter" idx="1"/>
          </p:nvPr>
        </p:nvSpPr>
        <p:spPr>
          <a:prstGeom prst="rect">
            <a:avLst/>
          </a:prstGeom>
        </p:spPr>
        <p:txBody>
          <a:bodyPr/>
          <a:lstStyle/>
          <a:p>
            <a:pPr/>
            <a:r>
              <a:t>Work through the four rows. Key consequence for later: because the reward decays exponentially with width, this channel is set by the TYPICAL error, whereas the accuracy channel is an L2 norm dominated by the WORST errors. They are nearly independent objectives — a model can be no more accurate overall and still win this channel outright.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Shape 304"/>
          <p:cNvSpPr/>
          <p:nvPr>
            <p:ph type="sldImg"/>
          </p:nvPr>
        </p:nvSpPr>
        <p:spPr>
          <a:prstGeom prst="rect">
            <a:avLst/>
          </a:prstGeom>
        </p:spPr>
        <p:txBody>
          <a:bodyPr/>
          <a:lstStyle/>
          <a:p>
            <a:pPr/>
          </a:p>
        </p:txBody>
      </p:sp>
      <p:sp>
        <p:nvSpPr>
          <p:cNvPr id="305" name="Shape 305"/>
          <p:cNvSpPr/>
          <p:nvPr>
            <p:ph type="body" sz="quarter" idx="1"/>
          </p:nvPr>
        </p:nvSpPr>
        <p:spPr>
          <a:prstGeom prst="rect">
            <a:avLst/>
          </a:prstGeom>
        </p:spPr>
        <p:txBody>
          <a:bodyPr/>
          <a:lstStyle/>
          <a:p>
            <a:pPr/>
            <a:r>
              <a:t>Be upfront about the legality question because someone will ask. Codabench serves the leaderboard to the browser through a public REST endpoint, and at the time it exposed per-channel subscores for every submission. We read that endpoint programmatically instead of clicking through the website. No authentication, no private data, nothing hidden. The competition rules forbid network calls from inside the submitted code during evaluation — that is a completely different thing, and our submission makes none. Worth noting the endpoint has since been restricted, so only totals are public now.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326"/>
          <p:cNvSpPr/>
          <p:nvPr>
            <p:ph type="sldImg"/>
          </p:nvPr>
        </p:nvSpPr>
        <p:spPr>
          <a:prstGeom prst="rect">
            <a:avLst/>
          </a:prstGeom>
        </p:spPr>
        <p:txBody>
          <a:bodyPr/>
          <a:lstStyle/>
          <a:p>
            <a:pPr/>
          </a:p>
        </p:txBody>
      </p:sp>
      <p:sp>
        <p:nvSpPr>
          <p:cNvPr id="327" name="Shape 327"/>
          <p:cNvSpPr/>
          <p:nvPr>
            <p:ph type="body" sz="quarter" idx="1"/>
          </p:nvPr>
        </p:nvSpPr>
        <p:spPr>
          <a:prstGeom prst="rect">
            <a:avLst/>
          </a:prstGeom>
        </p:spPr>
        <p:txBody>
          <a:bodyPr/>
          <a:lstStyle/>
          <a:p>
            <a:pPr/>
            <a:r>
              <a:t>Fine-tuning was the single biggest step — it took us from roughly 77 to 78.45. Model soup means training several times from different random starts and averaging the weights; it cancels each run's idiosyncrasies. The TKE head was worth +2.21 on that channel alone. But flag the caveat now and pay it off on slide 18 — this is the thread of the talk.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Shape 350"/>
          <p:cNvSpPr/>
          <p:nvPr>
            <p:ph type="sldImg"/>
          </p:nvPr>
        </p:nvSpPr>
        <p:spPr>
          <a:prstGeom prst="rect">
            <a:avLst/>
          </a:prstGeom>
        </p:spPr>
        <p:txBody>
          <a:bodyPr/>
          <a:lstStyle/>
          <a:p>
            <a:pPr/>
          </a:p>
        </p:txBody>
      </p:sp>
      <p:sp>
        <p:nvSpPr>
          <p:cNvPr id="351" name="Shape 351"/>
          <p:cNvSpPr/>
          <p:nvPr>
            <p:ph type="body" sz="quarter" idx="1"/>
          </p:nvPr>
        </p:nvSpPr>
        <p:spPr>
          <a:prstGeom prst="rect">
            <a:avLst/>
          </a:prstGeom>
        </p:spPr>
        <p:txBody>
          <a:bodyPr/>
          <a:lstStyle/>
          <a:p>
            <a:pPr/>
            <a:r>
              <a:t>The green box is the important one for a sceptical audience: because the prediction array is untouched, these submissions carry zero accuracy risk. We verified that byte-for-byte before shipping each one. Every gain since 21 September came from this channel with the model completely frozen.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9" name="Shape 369"/>
          <p:cNvSpPr/>
          <p:nvPr>
            <p:ph type="sldImg"/>
          </p:nvPr>
        </p:nvSpPr>
        <p:spPr>
          <a:prstGeom prst="rect">
            <a:avLst/>
          </a:prstGeom>
        </p:spPr>
        <p:txBody>
          <a:bodyPr/>
          <a:lstStyle/>
          <a:p>
            <a:pPr/>
          </a:p>
        </p:txBody>
      </p:sp>
      <p:sp>
        <p:nvSpPr>
          <p:cNvPr id="370" name="Shape 370"/>
          <p:cNvSpPr/>
          <p:nvPr>
            <p:ph type="body" sz="quarter" idx="1"/>
          </p:nvPr>
        </p:nvSpPr>
        <p:spPr>
          <a:prstGeom prst="rect">
            <a:avLst/>
          </a:prstGeom>
        </p:spPr>
        <p:txBody>
          <a:bodyPr/>
          <a:lstStyle/>
          <a:p>
            <a:pPr/>
            <a:r>
              <a:t>Start with the curve, because the formula is unintuitive. The score is 100/(1 + sqrt(t/728.96)). It is deliberately gentle: taking 2.5 minutes still scores 65, and the hard failure is only at 5 minutes. We run in 7.8 seconds, which scores 90.6 — we are far out on the flat part, so further speed-ups buy almost nothing. That is the point of the slide: we did the cheap engineering (GPU, merged networks, half precision), confirmed we were in the flat region, and stopped. One tempting idea — cutting the model's internal padding — gave a genuine 1.74x speed-up and wrecked accuracy by 60 times more than the time gain was worth. We priced it before submitting rather than after.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6" name="Shape 426"/>
          <p:cNvSpPr/>
          <p:nvPr>
            <p:ph type="sldImg"/>
          </p:nvPr>
        </p:nvSpPr>
        <p:spPr>
          <a:prstGeom prst="rect">
            <a:avLst/>
          </a:prstGeom>
        </p:spPr>
        <p:txBody>
          <a:bodyPr/>
          <a:lstStyle/>
          <a:p>
            <a:pPr/>
          </a:p>
        </p:txBody>
      </p:sp>
      <p:sp>
        <p:nvSpPr>
          <p:cNvPr id="427" name="Shape 427"/>
          <p:cNvSpPr/>
          <p:nvPr>
            <p:ph type="body" sz="quarter" idx="1"/>
          </p:nvPr>
        </p:nvSpPr>
        <p:spPr>
          <a:prstGeom prst="rect">
            <a:avLst/>
          </a:prstGeom>
        </p:spPr>
        <p:txBody>
          <a:bodyPr/>
          <a:lstStyle/>
          <a:p>
            <a:pPr/>
            <a:r>
              <a:t>This is the 'specific steps' table. Three rows carry most of the story, highlighted in orange. SHIFT_v2 is where the uncertainty machinery was added at all — the largest single jump in the project. FA1BMT added the TKE head. NARROW080 is the final one, and it is the cleanest illustration of the whole approach: the forecasting model is completely frozen and byte-identical, we only multiplied every interval width by 0.80, and that was worth +0.20. Note the 'model underneath' column: after FITA1B the backbone stops changing entirely. Everything after that is uncertainty and engineering.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Shape 440"/>
          <p:cNvSpPr/>
          <p:nvPr>
            <p:ph type="sldImg"/>
          </p:nvPr>
        </p:nvSpPr>
        <p:spPr>
          <a:prstGeom prst="rect">
            <a:avLst/>
          </a:prstGeom>
        </p:spPr>
        <p:txBody>
          <a:bodyPr/>
          <a:lstStyle/>
          <a:p>
            <a:pPr/>
          </a:p>
        </p:txBody>
      </p:sp>
      <p:sp>
        <p:nvSpPr>
          <p:cNvPr id="441" name="Shape 441"/>
          <p:cNvSpPr/>
          <p:nvPr>
            <p:ph type="body" sz="quarter" idx="1"/>
          </p:nvPr>
        </p:nvSpPr>
        <p:spPr>
          <a:prstGeom prst="rect">
            <a:avLst/>
          </a:prstGeom>
        </p:spPr>
        <p:txBody>
          <a:bodyPr/>
          <a:lstStyle/>
          <a:p>
            <a:pPr/>
            <a:r>
              <a:t>Point out three places: SHIFT_v2 is where the uncertainty channel was added — the largest single jump. FA1BMT is the TKE head. The final two points are pure bounds calibration with the model frozen. Also note the flat stretch in the middle: that is six weeks of accuracy work producing almost nothing, which is the puzzle slide 18 resolves.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9" name="Shape 469"/>
          <p:cNvSpPr/>
          <p:nvPr>
            <p:ph type="sldImg"/>
          </p:nvPr>
        </p:nvSpPr>
        <p:spPr>
          <a:prstGeom prst="rect">
            <a:avLst/>
          </a:prstGeom>
        </p:spPr>
        <p:txBody>
          <a:bodyPr/>
          <a:lstStyle/>
          <a:p>
            <a:pPr/>
          </a:p>
        </p:txBody>
      </p:sp>
      <p:sp>
        <p:nvSpPr>
          <p:cNvPr id="470" name="Shape 470"/>
          <p:cNvSpPr/>
          <p:nvPr>
            <p:ph type="body" sz="quarter" idx="1"/>
          </p:nvPr>
        </p:nvSpPr>
        <p:spPr>
          <a:prstGeom prst="rect">
            <a:avLst/>
          </a:prstGeom>
        </p:spPr>
        <p:txBody>
          <a:bodyPr/>
          <a:lstStyle/>
          <a:p>
            <a:pPr/>
            <a:r>
              <a:t>This is the slide that front-runs the obvious question, so do not skip it. The failed submission is what let us solve for the calibration constant — one equation, one unknown. The answer was 1.00, not 2.14, meaning the intervals should have been narrowed all along. Root cause: an earlier successful change had altered interval shape and width together and we credited the gain to width. The next day's submission, built on the corrected constant, crossed 80.</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3" name="Shape 483"/>
          <p:cNvSpPr/>
          <p:nvPr>
            <p:ph type="sldImg"/>
          </p:nvPr>
        </p:nvSpPr>
        <p:spPr>
          <a:prstGeom prst="rect">
            <a:avLst/>
          </a:prstGeom>
        </p:spPr>
        <p:txBody>
          <a:bodyPr/>
          <a:lstStyle/>
          <a:p>
            <a:pPr/>
          </a:p>
        </p:txBody>
      </p:sp>
      <p:sp>
        <p:nvSpPr>
          <p:cNvPr id="484" name="Shape 484"/>
          <p:cNvSpPr/>
          <p:nvPr>
            <p:ph type="body" sz="quarter" idx="1"/>
          </p:nvPr>
        </p:nvSpPr>
        <p:spPr>
          <a:prstGeom prst="rect">
            <a:avLst/>
          </a:prstGeom>
        </p:spPr>
        <p:txBody>
          <a:bodyPr/>
          <a:lstStyle/>
          <a:p>
            <a:pPr/>
            <a:r>
              <a:t>Be straightforward here. We are at 80.06, rank 1 is 82.10, the top-10 cutoff is 81.74. In relative terms that is a 2.5% difference, but the field is so tightly packed that 2.5% spans rank 1 to outside the top 50. The left panel is there to make the scale honest — every team is inside one dot on the full range.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9" name="Shape 499"/>
          <p:cNvSpPr/>
          <p:nvPr>
            <p:ph type="sldImg"/>
          </p:nvPr>
        </p:nvSpPr>
        <p:spPr>
          <a:prstGeom prst="rect">
            <a:avLst/>
          </a:prstGeom>
        </p:spPr>
        <p:txBody>
          <a:bodyPr/>
          <a:lstStyle/>
          <a:p>
            <a:pPr/>
          </a:p>
        </p:txBody>
      </p:sp>
      <p:sp>
        <p:nvSpPr>
          <p:cNvPr id="500" name="Shape 500"/>
          <p:cNvSpPr/>
          <p:nvPr>
            <p:ph type="body" sz="quarter" idx="1"/>
          </p:nvPr>
        </p:nvSpPr>
        <p:spPr>
          <a:prstGeom prst="rect">
            <a:avLst/>
          </a:prstGeom>
        </p:spPr>
        <p:txBody>
          <a:bodyPr/>
          <a:lstStyle/>
          <a:p>
            <a:pPr/>
            <a:r>
              <a:t>Explain the oracle: for a given set of forecast errors there is a best possible set of intervals — knowing each error exactly and sizing the interval to just cover it. That is an upper bound no method can beat. We reach 83.6% of it; the leader reaches 90.7%. This is how we separated 'they have a better model' from 'they have better uncertainty' using only published numbers.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4" name="Shape 514"/>
          <p:cNvSpPr/>
          <p:nvPr>
            <p:ph type="sldImg"/>
          </p:nvPr>
        </p:nvSpPr>
        <p:spPr>
          <a:prstGeom prst="rect">
            <a:avLst/>
          </a:prstGeom>
        </p:spPr>
        <p:txBody>
          <a:bodyPr/>
          <a:lstStyle/>
          <a:p>
            <a:pPr/>
          </a:p>
        </p:txBody>
      </p:sp>
      <p:sp>
        <p:nvSpPr>
          <p:cNvPr id="515" name="Shape 515"/>
          <p:cNvSpPr/>
          <p:nvPr>
            <p:ph type="body" sz="quarter" idx="1"/>
          </p:nvPr>
        </p:nvSpPr>
        <p:spPr>
          <a:prstGeom prst="rect">
            <a:avLst/>
          </a:prstGeom>
        </p:spPr>
        <p:txBody>
          <a:bodyPr/>
          <a:lstStyle/>
          <a:p>
            <a:pPr/>
            <a:r>
              <a:t>Each point is one past submission: its offline score against the score it actually got. For a useful test these should lie on a rising line. For rel_l2 they do not — the fit is negative and meaningless, because our offline score spans 0.028 while the live score spans 0.098. The test has no resolution in that channel. The uncertainty panel, by contrast, is clean: slope 0.62, and that matches a factor we derived independently from a single live anchor. This is the result I would most like feedback 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9" name="Shape 539"/>
          <p:cNvSpPr/>
          <p:nvPr>
            <p:ph type="sldImg"/>
          </p:nvPr>
        </p:nvSpPr>
        <p:spPr>
          <a:prstGeom prst="rect">
            <a:avLst/>
          </a:prstGeom>
        </p:spPr>
        <p:txBody>
          <a:bodyPr/>
          <a:lstStyle/>
          <a:p>
            <a:pPr/>
          </a:p>
        </p:txBody>
      </p:sp>
      <p:sp>
        <p:nvSpPr>
          <p:cNvPr id="540" name="Shape 540"/>
          <p:cNvSpPr/>
          <p:nvPr>
            <p:ph type="body" sz="quarter" idx="1"/>
          </p:nvPr>
        </p:nvSpPr>
        <p:spPr>
          <a:prstGeom prst="rect">
            <a:avLst/>
          </a:prstGeom>
        </p:spPr>
        <p:txBody>
          <a:bodyPr/>
          <a:lstStyle/>
          <a:p>
            <a:pPr/>
            <a:r>
              <a:t>Do not read every row. Pick two: the U-Net result, because it is the benchmark's own best-ranked architecture and it is 16% worse on our data — published rankings do not transfer. And the last row: adding 81,000 simulation frames to training did not beat the starting checkpoint in any of three configurations, which is what told us the model is converged.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9" name="Shape 569"/>
          <p:cNvSpPr/>
          <p:nvPr>
            <p:ph type="sldImg"/>
          </p:nvPr>
        </p:nvSpPr>
        <p:spPr>
          <a:prstGeom prst="rect">
            <a:avLst/>
          </a:prstGeom>
        </p:spPr>
        <p:txBody>
          <a:bodyPr/>
          <a:lstStyle/>
          <a:p>
            <a:pPr/>
          </a:p>
        </p:txBody>
      </p:sp>
      <p:sp>
        <p:nvSpPr>
          <p:cNvPr id="570" name="Shape 570"/>
          <p:cNvSpPr/>
          <p:nvPr>
            <p:ph type="body" sz="quarter" idx="1"/>
          </p:nvPr>
        </p:nvSpPr>
        <p:spPr>
          <a:prstGeom prst="rect">
            <a:avLst/>
          </a:prstGeom>
        </p:spPr>
        <p:txBody>
          <a:bodyPr/>
          <a:lstStyle/>
          <a:p>
            <a:pPr/>
            <a:r>
              <a:t>Close on the honest position. The 80 target is met. Top 10 is not reachable in the days left, and we can prove why rather than guess — that is the perfect-uncertainty number. The identified next step is pretraining our own backbone on the released simulation data, because the evidence says that is where the leaders' advantage comes from: outside pretrained models are banned, so there is nowhere else it can be. That is a multi-day training job, which is exactly why it did not fit inside the competition window.</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1"/>
          <p:cNvSpPr/>
          <p:nvPr/>
        </p:nvSpPr>
        <p:spPr>
          <a:xfrm>
            <a:off x="-1" y="0"/>
            <a:ext cx="12188954" cy="6858000"/>
          </a:xfrm>
          <a:prstGeom prst="rect">
            <a:avLst/>
          </a:prstGeom>
          <a:solidFill>
            <a:srgbClr val="558ED5"/>
          </a:solidFill>
          <a:ln w="15240">
            <a:solidFill>
              <a:srgbClr val="FFFFFF"/>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5" name="Rectangle 2"/>
          <p:cNvSpPr/>
          <p:nvPr/>
        </p:nvSpPr>
        <p:spPr>
          <a:xfrm>
            <a:off x="-1" y="6126479"/>
            <a:ext cx="12188954" cy="731521"/>
          </a:xfrm>
          <a:prstGeom prst="rect">
            <a:avLst/>
          </a:prstGeom>
          <a:solidFill>
            <a:srgbClr val="1F4E7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6" name="TextBox 3"/>
          <p:cNvSpPr txBox="1"/>
          <p:nvPr/>
        </p:nvSpPr>
        <p:spPr>
          <a:xfrm>
            <a:off x="960119" y="1235794"/>
            <a:ext cx="10268713" cy="44935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500">
                <a:solidFill>
                  <a:srgbClr val="FFFFFF"/>
                </a:solidFill>
                <a:latin typeface="Arial"/>
                <a:ea typeface="Arial"/>
                <a:cs typeface="Arial"/>
                <a:sym typeface="Arial"/>
              </a:defRPr>
            </a:lvl1pPr>
          </a:lstStyle>
          <a:p>
            <a:pPr/>
            <a:r>
              <a:t>UGP Presentation</a:t>
            </a:r>
          </a:p>
        </p:txBody>
      </p:sp>
      <p:sp>
        <p:nvSpPr>
          <p:cNvPr id="97" name="TextBox 4"/>
          <p:cNvSpPr txBox="1"/>
          <p:nvPr/>
        </p:nvSpPr>
        <p:spPr>
          <a:xfrm>
            <a:off x="960119" y="1923904"/>
            <a:ext cx="10268713" cy="187572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4600">
                <a:solidFill>
                  <a:srgbClr val="FFFFFF"/>
                </a:solidFill>
                <a:latin typeface="Arial"/>
                <a:ea typeface="Arial"/>
                <a:cs typeface="Arial"/>
                <a:sym typeface="Arial"/>
              </a:defRPr>
            </a:pPr>
            <a:r>
              <a:t>Forecasting Real Airfoil Wakes</a:t>
            </a:r>
            <a:r>
              <a:t> :</a:t>
            </a:r>
          </a:p>
          <a:p>
            <a:pPr>
              <a:defRPr b="1" sz="3000">
                <a:solidFill>
                  <a:srgbClr val="FFFFFF"/>
                </a:solidFill>
                <a:latin typeface="Arial"/>
                <a:ea typeface="Arial"/>
                <a:cs typeface="Arial"/>
                <a:sym typeface="Arial"/>
              </a:defRPr>
            </a:pPr>
            <a:r>
              <a:t>Neural Operators on PIV Measurements</a:t>
            </a:r>
            <a:endParaRPr sz="4600"/>
          </a:p>
        </p:txBody>
      </p:sp>
      <p:sp>
        <p:nvSpPr>
          <p:cNvPr id="98" name="TextBox 6"/>
          <p:cNvSpPr txBox="1"/>
          <p:nvPr/>
        </p:nvSpPr>
        <p:spPr>
          <a:xfrm>
            <a:off x="960119" y="3654812"/>
            <a:ext cx="10268713" cy="44935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500">
                <a:solidFill>
                  <a:srgbClr val="FFFFFF"/>
                </a:solidFill>
                <a:latin typeface="Arial"/>
                <a:ea typeface="Arial"/>
                <a:cs typeface="Arial"/>
                <a:sym typeface="Arial"/>
              </a:defRPr>
            </a:pPr>
            <a:r>
              <a:t>Aryamann Srivastava</a:t>
            </a:r>
            <a:r>
              <a:t>, 4th year Undergraduate, Dept. of AE</a:t>
            </a:r>
          </a:p>
        </p:txBody>
      </p:sp>
      <p:sp>
        <p:nvSpPr>
          <p:cNvPr id="99" name="TextBox 7"/>
          <p:cNvSpPr txBox="1"/>
          <p:nvPr/>
        </p:nvSpPr>
        <p:spPr>
          <a:xfrm>
            <a:off x="960119" y="4526279"/>
            <a:ext cx="10268713" cy="44935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500">
                <a:solidFill>
                  <a:srgbClr val="FFFFFF"/>
                </a:solidFill>
                <a:latin typeface="Arial"/>
                <a:ea typeface="Arial"/>
                <a:cs typeface="Arial"/>
                <a:sym typeface="Arial"/>
              </a:defRPr>
            </a:pPr>
            <a:r>
              <a:t>NeurIPS 2026 RealPDE Competition </a:t>
            </a:r>
            <a:r>
              <a:t>- </a:t>
            </a:r>
            <a:r>
              <a:t>Track </a:t>
            </a:r>
            <a:r>
              <a:t>1 : Sim2Real</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4"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5"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6" name="TextBox 4"/>
          <p:cNvSpPr txBox="1"/>
          <p:nvPr/>
        </p:nvSpPr>
        <p:spPr>
          <a:xfrm>
            <a:off x="502919" y="164591"/>
            <a:ext cx="11183113" cy="5107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000">
                <a:solidFill>
                  <a:srgbClr val="FFFFFF"/>
                </a:solidFill>
                <a:latin typeface="Arial"/>
                <a:ea typeface="Arial"/>
                <a:cs typeface="Arial"/>
                <a:sym typeface="Arial"/>
              </a:defRPr>
            </a:pPr>
            <a:r>
              <a:t>What </a:t>
            </a:r>
            <a:r>
              <a:t>is Covered</a:t>
            </a:r>
          </a:p>
        </p:txBody>
      </p:sp>
      <p:sp>
        <p:nvSpPr>
          <p:cNvPr id="107"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8"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109"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2 / 21</a:t>
            </a:r>
          </a:p>
        </p:txBody>
      </p:sp>
      <p:sp>
        <p:nvSpPr>
          <p:cNvPr id="110" name="Rectangle 9"/>
          <p:cNvSpPr/>
          <p:nvPr/>
        </p:nvSpPr>
        <p:spPr>
          <a:xfrm>
            <a:off x="466343" y="1920239"/>
            <a:ext cx="2163472" cy="192024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1" name="TextBox 10"/>
          <p:cNvSpPr txBox="1"/>
          <p:nvPr/>
        </p:nvSpPr>
        <p:spPr>
          <a:xfrm>
            <a:off x="512063" y="2121407"/>
            <a:ext cx="2072032" cy="5726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1</a:t>
            </a:r>
          </a:p>
        </p:txBody>
      </p:sp>
      <p:sp>
        <p:nvSpPr>
          <p:cNvPr id="112" name="TextBox 11"/>
          <p:cNvSpPr txBox="1"/>
          <p:nvPr/>
        </p:nvSpPr>
        <p:spPr>
          <a:xfrm>
            <a:off x="694943" y="2834639"/>
            <a:ext cx="1706272" cy="4920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400">
                <a:solidFill>
                  <a:srgbClr val="2C3E50"/>
                </a:solidFill>
                <a:latin typeface="Arial"/>
                <a:ea typeface="Arial"/>
                <a:cs typeface="Arial"/>
                <a:sym typeface="Arial"/>
              </a:defRPr>
            </a:pPr>
            <a:r>
              <a:t>The problem</a:t>
            </a:r>
            <a:r>
              <a:t> statement</a:t>
            </a:r>
          </a:p>
        </p:txBody>
      </p:sp>
      <p:sp>
        <p:nvSpPr>
          <p:cNvPr id="113" name="TextBox 12"/>
          <p:cNvSpPr txBox="1"/>
          <p:nvPr/>
        </p:nvSpPr>
        <p:spPr>
          <a:xfrm>
            <a:off x="512063" y="3931920"/>
            <a:ext cx="2072032"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300">
                <a:solidFill>
                  <a:srgbClr val="2C3E50"/>
                </a:solidFill>
                <a:latin typeface="Arial"/>
                <a:ea typeface="Arial"/>
                <a:cs typeface="Arial"/>
                <a:sym typeface="Arial"/>
              </a:defRPr>
            </a:lvl1pPr>
          </a:lstStyle>
          <a:p>
            <a:pPr/>
            <a:r>
              <a:t>Forecasting future frames</a:t>
            </a:r>
          </a:p>
        </p:txBody>
      </p:sp>
      <p:sp>
        <p:nvSpPr>
          <p:cNvPr id="114" name="Rectangle 13"/>
          <p:cNvSpPr/>
          <p:nvPr/>
        </p:nvSpPr>
        <p:spPr>
          <a:xfrm>
            <a:off x="2739542" y="1920239"/>
            <a:ext cx="2163471" cy="192024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5" name="TextBox 14"/>
          <p:cNvSpPr txBox="1"/>
          <p:nvPr/>
        </p:nvSpPr>
        <p:spPr>
          <a:xfrm>
            <a:off x="2785261" y="2121407"/>
            <a:ext cx="2072032" cy="5726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2</a:t>
            </a:r>
          </a:p>
        </p:txBody>
      </p:sp>
      <p:sp>
        <p:nvSpPr>
          <p:cNvPr id="116" name="TextBox 15"/>
          <p:cNvSpPr txBox="1"/>
          <p:nvPr/>
        </p:nvSpPr>
        <p:spPr>
          <a:xfrm>
            <a:off x="2968141" y="2834639"/>
            <a:ext cx="1706271"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400">
                <a:solidFill>
                  <a:srgbClr val="2C3E50"/>
                </a:solidFill>
                <a:latin typeface="Arial"/>
                <a:ea typeface="Arial"/>
                <a:cs typeface="Arial"/>
                <a:sym typeface="Arial"/>
              </a:defRPr>
            </a:pPr>
            <a:r>
              <a:t>The </a:t>
            </a:r>
            <a:r>
              <a:t>method</a:t>
            </a:r>
          </a:p>
        </p:txBody>
      </p:sp>
      <p:sp>
        <p:nvSpPr>
          <p:cNvPr id="117" name="TextBox 16"/>
          <p:cNvSpPr txBox="1"/>
          <p:nvPr/>
        </p:nvSpPr>
        <p:spPr>
          <a:xfrm>
            <a:off x="2785261" y="3931920"/>
            <a:ext cx="2072032"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300">
                <a:solidFill>
                  <a:srgbClr val="2C3E50"/>
                </a:solidFill>
                <a:latin typeface="Arial"/>
                <a:ea typeface="Arial"/>
                <a:cs typeface="Arial"/>
                <a:sym typeface="Arial"/>
              </a:defRPr>
            </a:lvl1pPr>
          </a:lstStyle>
          <a:p>
            <a:pPr/>
            <a:r>
              <a:t>What the model does</a:t>
            </a:r>
          </a:p>
        </p:txBody>
      </p:sp>
      <p:sp>
        <p:nvSpPr>
          <p:cNvPr id="118" name="Rectangle 17"/>
          <p:cNvSpPr/>
          <p:nvPr/>
        </p:nvSpPr>
        <p:spPr>
          <a:xfrm>
            <a:off x="5012740" y="1920239"/>
            <a:ext cx="2163471" cy="192024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9" name="TextBox 18"/>
          <p:cNvSpPr txBox="1"/>
          <p:nvPr/>
        </p:nvSpPr>
        <p:spPr>
          <a:xfrm>
            <a:off x="5058460" y="2121407"/>
            <a:ext cx="2072031" cy="5726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3</a:t>
            </a:r>
          </a:p>
        </p:txBody>
      </p:sp>
      <p:sp>
        <p:nvSpPr>
          <p:cNvPr id="120" name="TextBox 19"/>
          <p:cNvSpPr txBox="1"/>
          <p:nvPr/>
        </p:nvSpPr>
        <p:spPr>
          <a:xfrm>
            <a:off x="5241340" y="2834639"/>
            <a:ext cx="1706271"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400">
                <a:solidFill>
                  <a:srgbClr val="2C3E50"/>
                </a:solidFill>
                <a:latin typeface="Arial"/>
                <a:ea typeface="Arial"/>
                <a:cs typeface="Arial"/>
                <a:sym typeface="Arial"/>
              </a:defRPr>
            </a:lvl1pPr>
          </a:lstStyle>
          <a:p>
            <a:pPr/>
            <a:r>
              <a:t>The scoring</a:t>
            </a:r>
          </a:p>
        </p:txBody>
      </p:sp>
      <p:sp>
        <p:nvSpPr>
          <p:cNvPr id="121" name="TextBox 20"/>
          <p:cNvSpPr txBox="1"/>
          <p:nvPr/>
        </p:nvSpPr>
        <p:spPr>
          <a:xfrm>
            <a:off x="5058460" y="3931920"/>
            <a:ext cx="207203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300">
                <a:solidFill>
                  <a:srgbClr val="2C3E50"/>
                </a:solidFill>
                <a:latin typeface="Arial"/>
                <a:ea typeface="Arial"/>
                <a:cs typeface="Arial"/>
                <a:sym typeface="Arial"/>
              </a:defRPr>
            </a:pPr>
            <a:r>
              <a:t>Five </a:t>
            </a:r>
            <a:r>
              <a:t>Metrics to score on</a:t>
            </a:r>
          </a:p>
        </p:txBody>
      </p:sp>
      <p:sp>
        <p:nvSpPr>
          <p:cNvPr id="122" name="Rectangle 21"/>
          <p:cNvSpPr/>
          <p:nvPr/>
        </p:nvSpPr>
        <p:spPr>
          <a:xfrm>
            <a:off x="7285938" y="1920239"/>
            <a:ext cx="2163472" cy="192024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23" name="TextBox 22"/>
          <p:cNvSpPr txBox="1"/>
          <p:nvPr/>
        </p:nvSpPr>
        <p:spPr>
          <a:xfrm>
            <a:off x="7331658" y="2121407"/>
            <a:ext cx="2072031" cy="5726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4</a:t>
            </a:r>
          </a:p>
        </p:txBody>
      </p:sp>
      <p:sp>
        <p:nvSpPr>
          <p:cNvPr id="124" name="TextBox 23"/>
          <p:cNvSpPr txBox="1"/>
          <p:nvPr/>
        </p:nvSpPr>
        <p:spPr>
          <a:xfrm>
            <a:off x="7514538" y="2834639"/>
            <a:ext cx="1706272"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400">
                <a:solidFill>
                  <a:srgbClr val="2C3E50"/>
                </a:solidFill>
                <a:latin typeface="Arial"/>
                <a:ea typeface="Arial"/>
                <a:cs typeface="Arial"/>
                <a:sym typeface="Arial"/>
              </a:defRPr>
            </a:lvl1pPr>
          </a:lstStyle>
          <a:p>
            <a:pPr/>
            <a:r>
              <a:t>What we tried</a:t>
            </a:r>
          </a:p>
        </p:txBody>
      </p:sp>
      <p:sp>
        <p:nvSpPr>
          <p:cNvPr id="125" name="TextBox 24"/>
          <p:cNvSpPr txBox="1"/>
          <p:nvPr/>
        </p:nvSpPr>
        <p:spPr>
          <a:xfrm>
            <a:off x="7331658" y="3931920"/>
            <a:ext cx="207203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300">
                <a:solidFill>
                  <a:srgbClr val="2C3E50"/>
                </a:solidFill>
                <a:latin typeface="Arial"/>
                <a:ea typeface="Arial"/>
                <a:cs typeface="Arial"/>
                <a:sym typeface="Arial"/>
              </a:defRPr>
            </a:lvl1pPr>
          </a:lstStyle>
          <a:p>
            <a:pPr/>
            <a:r>
              <a:t>Including the failures</a:t>
            </a:r>
          </a:p>
        </p:txBody>
      </p:sp>
      <p:sp>
        <p:nvSpPr>
          <p:cNvPr id="126" name="Rectangle 25"/>
          <p:cNvSpPr/>
          <p:nvPr/>
        </p:nvSpPr>
        <p:spPr>
          <a:xfrm>
            <a:off x="9559136" y="1920239"/>
            <a:ext cx="2163471" cy="192024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27" name="TextBox 26"/>
          <p:cNvSpPr txBox="1"/>
          <p:nvPr/>
        </p:nvSpPr>
        <p:spPr>
          <a:xfrm>
            <a:off x="9604856" y="2121407"/>
            <a:ext cx="2072031" cy="5726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5</a:t>
            </a:r>
          </a:p>
        </p:txBody>
      </p:sp>
      <p:sp>
        <p:nvSpPr>
          <p:cNvPr id="128" name="TextBox 27"/>
          <p:cNvSpPr txBox="1"/>
          <p:nvPr/>
        </p:nvSpPr>
        <p:spPr>
          <a:xfrm>
            <a:off x="9787736" y="2834639"/>
            <a:ext cx="1706271"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400">
                <a:solidFill>
                  <a:srgbClr val="2C3E50"/>
                </a:solidFill>
                <a:latin typeface="Arial"/>
                <a:ea typeface="Arial"/>
                <a:cs typeface="Arial"/>
                <a:sym typeface="Arial"/>
              </a:defRPr>
            </a:lvl1pPr>
          </a:lstStyle>
          <a:p>
            <a:pPr/>
            <a:r>
              <a:t>Where we stand</a:t>
            </a:r>
          </a:p>
        </p:txBody>
      </p:sp>
      <p:sp>
        <p:nvSpPr>
          <p:cNvPr id="129" name="TextBox 28"/>
          <p:cNvSpPr txBox="1"/>
          <p:nvPr/>
        </p:nvSpPr>
        <p:spPr>
          <a:xfrm>
            <a:off x="9604856" y="3931920"/>
            <a:ext cx="207203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300">
                <a:solidFill>
                  <a:srgbClr val="2C3E50"/>
                </a:solidFill>
                <a:latin typeface="Arial"/>
                <a:ea typeface="Arial"/>
                <a:cs typeface="Arial"/>
                <a:sym typeface="Arial"/>
              </a:defRPr>
            </a:pPr>
            <a:r>
              <a:t>Against </a:t>
            </a:r>
            <a:r>
              <a:t>several</a:t>
            </a:r>
            <a:r>
              <a:t> teams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4"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5"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6"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This Is the Data</a:t>
            </a:r>
          </a:p>
        </p:txBody>
      </p:sp>
      <p:sp>
        <p:nvSpPr>
          <p:cNvPr id="137"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Streamwise velocity, measured by PIV in a water tunnel</a:t>
            </a:r>
          </a:p>
        </p:txBody>
      </p:sp>
      <p:sp>
        <p:nvSpPr>
          <p:cNvPr id="138"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9"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140"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3 / 21</a:t>
            </a:r>
          </a:p>
        </p:txBody>
      </p:sp>
      <p:sp>
        <p:nvSpPr>
          <p:cNvPr id="141" name="Rectangle 9"/>
          <p:cNvSpPr/>
          <p:nvPr/>
        </p:nvSpPr>
        <p:spPr>
          <a:xfrm>
            <a:off x="411479" y="1371600"/>
            <a:ext cx="11365994" cy="3977639"/>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pic>
        <p:nvPicPr>
          <p:cNvPr id="142" name="Picture 10" descr="Picture 10"/>
          <p:cNvPicPr>
            <a:picLocks noChangeAspect="1"/>
          </p:cNvPicPr>
          <p:nvPr/>
        </p:nvPicPr>
        <p:blipFill>
          <a:blip r:embed="rId3">
            <a:extLst/>
          </a:blip>
          <a:stretch>
            <a:fillRect/>
          </a:stretch>
        </p:blipFill>
        <p:spPr>
          <a:xfrm>
            <a:off x="1448928" y="1481327"/>
            <a:ext cx="9291096" cy="3749040"/>
          </a:xfrm>
          <a:prstGeom prst="rect">
            <a:avLst/>
          </a:prstGeom>
          <a:ln w="12700">
            <a:miter lim="400000"/>
          </a:ln>
        </p:spPr>
      </p:pic>
      <p:sp>
        <p:nvSpPr>
          <p:cNvPr id="143" name="TextBox 11"/>
          <p:cNvSpPr txBox="1"/>
          <p:nvPr/>
        </p:nvSpPr>
        <p:spPr>
          <a:xfrm>
            <a:off x="457199" y="5577840"/>
            <a:ext cx="11274553" cy="4125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200">
                <a:solidFill>
                  <a:srgbClr val="1F4E79"/>
                </a:solidFill>
                <a:latin typeface="Arial"/>
                <a:ea typeface="Arial"/>
                <a:cs typeface="Arial"/>
                <a:sym typeface="Arial"/>
              </a:defRPr>
            </a:lvl1pPr>
          </a:lstStyle>
          <a:p>
            <a:pPr/>
            <a:r>
              <a:t>Given the top row  →  predict the bottom row.</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48"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49"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50" name="TextBox 4"/>
          <p:cNvSpPr txBox="1"/>
          <p:nvPr/>
        </p:nvSpPr>
        <p:spPr>
          <a:xfrm>
            <a:off x="502919" y="164591"/>
            <a:ext cx="11183113" cy="5107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000">
                <a:solidFill>
                  <a:srgbClr val="FFFFFF"/>
                </a:solidFill>
                <a:latin typeface="Arial"/>
                <a:ea typeface="Arial"/>
                <a:cs typeface="Arial"/>
                <a:sym typeface="Arial"/>
              </a:defRPr>
            </a:pPr>
            <a:r>
              <a:t>The Task</a:t>
            </a:r>
            <a:r>
              <a:t>, in a Nutshell</a:t>
            </a:r>
          </a:p>
        </p:txBody>
      </p:sp>
      <p:sp>
        <p:nvSpPr>
          <p:cNvPr id="151"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One sentence, then the numbers</a:t>
            </a:r>
          </a:p>
        </p:txBody>
      </p:sp>
      <p:sp>
        <p:nvSpPr>
          <p:cNvPr id="152"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53"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154"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4 / 21</a:t>
            </a:r>
          </a:p>
        </p:txBody>
      </p:sp>
      <p:sp>
        <p:nvSpPr>
          <p:cNvPr id="155" name="Rectangle 9"/>
          <p:cNvSpPr/>
          <p:nvPr/>
        </p:nvSpPr>
        <p:spPr>
          <a:xfrm>
            <a:off x="411479" y="1371600"/>
            <a:ext cx="11365994" cy="1005839"/>
          </a:xfrm>
          <a:prstGeom prst="rect">
            <a:avLst/>
          </a:prstGeom>
          <a:solidFill>
            <a:srgbClr val="FFFFFF"/>
          </a:solidFill>
          <a:ln w="25400">
            <a:solidFill>
              <a:srgbClr val="2E86C1"/>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56" name="TextBox 10"/>
          <p:cNvSpPr txBox="1"/>
          <p:nvPr/>
        </p:nvSpPr>
        <p:spPr>
          <a:xfrm>
            <a:off x="457199" y="1609344"/>
            <a:ext cx="11274553" cy="47433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600">
                <a:solidFill>
                  <a:srgbClr val="1F4E79"/>
                </a:solidFill>
                <a:latin typeface="Arial"/>
                <a:ea typeface="Arial"/>
                <a:cs typeface="Arial"/>
                <a:sym typeface="Arial"/>
              </a:defRPr>
            </a:lvl1pPr>
          </a:lstStyle>
          <a:p>
            <a:pPr/>
            <a:r>
              <a:t>Given 20 measured frames,  predict the next 20.</a:t>
            </a:r>
          </a:p>
        </p:txBody>
      </p:sp>
      <p:sp>
        <p:nvSpPr>
          <p:cNvPr id="157" name="Rectangle 11"/>
          <p:cNvSpPr/>
          <p:nvPr/>
        </p:nvSpPr>
        <p:spPr>
          <a:xfrm>
            <a:off x="466343" y="2697479"/>
            <a:ext cx="2731772" cy="17373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58" name="TextBox 12"/>
          <p:cNvSpPr txBox="1"/>
          <p:nvPr/>
        </p:nvSpPr>
        <p:spPr>
          <a:xfrm>
            <a:off x="512063" y="2898648"/>
            <a:ext cx="2640332" cy="5726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32 × 64</a:t>
            </a:r>
          </a:p>
        </p:txBody>
      </p:sp>
      <p:sp>
        <p:nvSpPr>
          <p:cNvPr id="159" name="TextBox 13"/>
          <p:cNvSpPr txBox="1"/>
          <p:nvPr/>
        </p:nvSpPr>
        <p:spPr>
          <a:xfrm>
            <a:off x="694943" y="3611879"/>
            <a:ext cx="2274572"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400">
                <a:solidFill>
                  <a:srgbClr val="2C3E50"/>
                </a:solidFill>
                <a:latin typeface="Arial"/>
                <a:ea typeface="Arial"/>
                <a:cs typeface="Arial"/>
                <a:sym typeface="Arial"/>
              </a:defRPr>
            </a:lvl1pPr>
          </a:lstStyle>
          <a:p>
            <a:pPr/>
            <a:r>
              <a:t>grid points per frame</a:t>
            </a:r>
          </a:p>
        </p:txBody>
      </p:sp>
      <p:sp>
        <p:nvSpPr>
          <p:cNvPr id="160" name="Rectangle 14"/>
          <p:cNvSpPr/>
          <p:nvPr/>
        </p:nvSpPr>
        <p:spPr>
          <a:xfrm>
            <a:off x="3307841" y="2697479"/>
            <a:ext cx="2731771" cy="17373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61" name="TextBox 15"/>
          <p:cNvSpPr txBox="1"/>
          <p:nvPr/>
        </p:nvSpPr>
        <p:spPr>
          <a:xfrm>
            <a:off x="3353561" y="2898648"/>
            <a:ext cx="2640332" cy="5726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2</a:t>
            </a:r>
          </a:p>
        </p:txBody>
      </p:sp>
      <p:sp>
        <p:nvSpPr>
          <p:cNvPr id="162" name="TextBox 16"/>
          <p:cNvSpPr txBox="1"/>
          <p:nvPr/>
        </p:nvSpPr>
        <p:spPr>
          <a:xfrm>
            <a:off x="3536441" y="3611879"/>
            <a:ext cx="2274571"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400">
                <a:solidFill>
                  <a:srgbClr val="2C3E50"/>
                </a:solidFill>
                <a:latin typeface="Arial"/>
                <a:ea typeface="Arial"/>
                <a:cs typeface="Arial"/>
                <a:sym typeface="Arial"/>
              </a:defRPr>
            </a:lvl1pPr>
          </a:lstStyle>
          <a:p>
            <a:pPr/>
            <a:r>
              <a:t>velocity components  u, v</a:t>
            </a:r>
          </a:p>
        </p:txBody>
      </p:sp>
      <p:sp>
        <p:nvSpPr>
          <p:cNvPr id="163" name="Rectangle 17"/>
          <p:cNvSpPr/>
          <p:nvPr/>
        </p:nvSpPr>
        <p:spPr>
          <a:xfrm>
            <a:off x="6149340" y="2697479"/>
            <a:ext cx="2731771" cy="17373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64" name="TextBox 18"/>
          <p:cNvSpPr txBox="1"/>
          <p:nvPr/>
        </p:nvSpPr>
        <p:spPr>
          <a:xfrm>
            <a:off x="6195060" y="2898648"/>
            <a:ext cx="2640331" cy="5726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81</a:t>
            </a:r>
          </a:p>
        </p:txBody>
      </p:sp>
      <p:sp>
        <p:nvSpPr>
          <p:cNvPr id="165" name="TextBox 19"/>
          <p:cNvSpPr txBox="1"/>
          <p:nvPr/>
        </p:nvSpPr>
        <p:spPr>
          <a:xfrm>
            <a:off x="6377940" y="3611879"/>
            <a:ext cx="2274571"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400">
                <a:solidFill>
                  <a:srgbClr val="2C3E50"/>
                </a:solidFill>
                <a:latin typeface="Arial"/>
                <a:ea typeface="Arial"/>
                <a:cs typeface="Arial"/>
                <a:sym typeface="Arial"/>
              </a:defRPr>
            </a:lvl1pPr>
          </a:lstStyle>
          <a:p>
            <a:pPr/>
            <a:r>
              <a:t>training runs</a:t>
            </a:r>
          </a:p>
        </p:txBody>
      </p:sp>
      <p:sp>
        <p:nvSpPr>
          <p:cNvPr id="166" name="Rectangle 20"/>
          <p:cNvSpPr/>
          <p:nvPr/>
        </p:nvSpPr>
        <p:spPr>
          <a:xfrm>
            <a:off x="8990838" y="2697479"/>
            <a:ext cx="2731771" cy="17373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67" name="TextBox 21"/>
          <p:cNvSpPr txBox="1"/>
          <p:nvPr/>
        </p:nvSpPr>
        <p:spPr>
          <a:xfrm>
            <a:off x="9036557" y="2898648"/>
            <a:ext cx="2640331" cy="5726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69,000</a:t>
            </a:r>
          </a:p>
        </p:txBody>
      </p:sp>
      <p:sp>
        <p:nvSpPr>
          <p:cNvPr id="168" name="TextBox 22"/>
          <p:cNvSpPr txBox="1"/>
          <p:nvPr/>
        </p:nvSpPr>
        <p:spPr>
          <a:xfrm>
            <a:off x="9219438" y="3611879"/>
            <a:ext cx="2274571"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400">
                <a:solidFill>
                  <a:srgbClr val="2C3E50"/>
                </a:solidFill>
                <a:latin typeface="Arial"/>
                <a:ea typeface="Arial"/>
                <a:cs typeface="Arial"/>
                <a:sym typeface="Arial"/>
              </a:defRPr>
            </a:lvl1pPr>
          </a:lstStyle>
          <a:p>
            <a:pPr/>
            <a:r>
              <a:t>real frames total</a:t>
            </a:r>
          </a:p>
        </p:txBody>
      </p:sp>
      <p:sp>
        <p:nvSpPr>
          <p:cNvPr id="169" name="Rectangle 23"/>
          <p:cNvSpPr/>
          <p:nvPr/>
        </p:nvSpPr>
        <p:spPr>
          <a:xfrm>
            <a:off x="411479" y="4617720"/>
            <a:ext cx="11365994" cy="182880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70" name="TextBox 24"/>
          <p:cNvSpPr txBox="1"/>
          <p:nvPr/>
        </p:nvSpPr>
        <p:spPr>
          <a:xfrm>
            <a:off x="685799" y="4754879"/>
            <a:ext cx="10817353"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A2E4A"/>
                </a:solidFill>
                <a:latin typeface="Arial"/>
                <a:ea typeface="Arial"/>
                <a:cs typeface="Arial"/>
                <a:sym typeface="Arial"/>
              </a:defRPr>
            </a:lvl1pPr>
          </a:lstStyle>
          <a:p>
            <a:pPr/>
            <a:r>
              <a:t>Conditions</a:t>
            </a:r>
          </a:p>
        </p:txBody>
      </p:sp>
      <p:sp>
        <p:nvSpPr>
          <p:cNvPr id="171" name="TextBox 25"/>
          <p:cNvSpPr txBox="1"/>
          <p:nvPr/>
        </p:nvSpPr>
        <p:spPr>
          <a:xfrm>
            <a:off x="777239" y="5166359"/>
            <a:ext cx="1371602"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700">
                <a:solidFill>
                  <a:srgbClr val="1F4E79"/>
                </a:solidFill>
                <a:latin typeface="Arial"/>
                <a:ea typeface="Arial"/>
                <a:cs typeface="Arial"/>
                <a:sym typeface="Arial"/>
              </a:defRPr>
            </a:lvl1pPr>
          </a:lstStyle>
          <a:p>
            <a:pPr/>
            <a:r>
              <a:t>Training</a:t>
            </a:r>
          </a:p>
        </p:txBody>
      </p:sp>
      <p:sp>
        <p:nvSpPr>
          <p:cNvPr id="172" name="TextBox 26"/>
          <p:cNvSpPr txBox="1"/>
          <p:nvPr/>
        </p:nvSpPr>
        <p:spPr>
          <a:xfrm>
            <a:off x="2240280" y="5184647"/>
            <a:ext cx="9171432" cy="3011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500">
                <a:solidFill>
                  <a:srgbClr val="2C3E50"/>
                </a:solidFill>
                <a:latin typeface="Arial"/>
                <a:ea typeface="Arial"/>
                <a:cs typeface="Arial"/>
                <a:sym typeface="Arial"/>
              </a:defRPr>
            </a:pPr>
            <a:r>
              <a:t>Reynolds 3,750 – 26,700 </a:t>
            </a:r>
            <a:r>
              <a:t>; </a:t>
            </a:r>
            <a:r>
              <a:t>  angle of attack 0° – 20°</a:t>
            </a:r>
          </a:p>
        </p:txBody>
      </p:sp>
      <p:sp>
        <p:nvSpPr>
          <p:cNvPr id="173" name="TextBox 27"/>
          <p:cNvSpPr txBox="1"/>
          <p:nvPr/>
        </p:nvSpPr>
        <p:spPr>
          <a:xfrm>
            <a:off x="777239" y="5696711"/>
            <a:ext cx="1371602"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700">
                <a:solidFill>
                  <a:srgbClr val="1F4E79"/>
                </a:solidFill>
                <a:latin typeface="Arial"/>
                <a:ea typeface="Arial"/>
                <a:cs typeface="Arial"/>
                <a:sym typeface="Arial"/>
              </a:defRPr>
            </a:lvl1pPr>
          </a:lstStyle>
          <a:p>
            <a:pPr/>
            <a:r>
              <a:t>Testing</a:t>
            </a:r>
          </a:p>
        </p:txBody>
      </p:sp>
      <p:sp>
        <p:nvSpPr>
          <p:cNvPr id="174" name="TextBox 28"/>
          <p:cNvSpPr txBox="1"/>
          <p:nvPr/>
        </p:nvSpPr>
        <p:spPr>
          <a:xfrm>
            <a:off x="2240280" y="5715000"/>
            <a:ext cx="9171432" cy="3011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500">
                <a:solidFill>
                  <a:srgbClr val="2C3E50"/>
                </a:solidFill>
                <a:latin typeface="Arial"/>
                <a:ea typeface="Arial"/>
                <a:cs typeface="Arial"/>
                <a:sym typeface="Arial"/>
              </a:defRPr>
            </a:pPr>
            <a:r>
              <a:t>unseen conditions, reaching Re 27,975 </a:t>
            </a:r>
            <a:r>
              <a:t>which happens to be above</a:t>
            </a:r>
            <a:r>
              <a:t> the training maximum</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Rectangle 1"/>
          <p:cNvSpPr/>
          <p:nvPr/>
        </p:nvSpPr>
        <p:spPr>
          <a:xfrm>
            <a:off x="0" y="0"/>
            <a:ext cx="12188825"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79" name="Rectangle 2"/>
          <p:cNvSpPr/>
          <p:nvPr/>
        </p:nvSpPr>
        <p:spPr>
          <a:xfrm>
            <a:off x="0" y="-1"/>
            <a:ext cx="12188825"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80" name="Rectangle 3"/>
          <p:cNvSpPr/>
          <p:nvPr/>
        </p:nvSpPr>
        <p:spPr>
          <a:xfrm>
            <a:off x="0" y="1051560"/>
            <a:ext cx="12188825"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81" name="TextBox 4"/>
          <p:cNvSpPr txBox="1"/>
          <p:nvPr/>
        </p:nvSpPr>
        <p:spPr>
          <a:xfrm>
            <a:off x="502919" y="164592"/>
            <a:ext cx="11182986"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What We Actually Submit</a:t>
            </a:r>
          </a:p>
        </p:txBody>
      </p:sp>
      <p:sp>
        <p:nvSpPr>
          <p:cNvPr id="182" name="TextBox 5"/>
          <p:cNvSpPr txBox="1"/>
          <p:nvPr/>
        </p:nvSpPr>
        <p:spPr>
          <a:xfrm>
            <a:off x="521207" y="658368"/>
            <a:ext cx="11182986"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A working program</a:t>
            </a:r>
          </a:p>
        </p:txBody>
      </p:sp>
      <p:sp>
        <p:nvSpPr>
          <p:cNvPr id="183" name="Rectangle 6"/>
          <p:cNvSpPr/>
          <p:nvPr/>
        </p:nvSpPr>
        <p:spPr>
          <a:xfrm>
            <a:off x="411479" y="1371600"/>
            <a:ext cx="11365994" cy="4023360"/>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pic>
        <p:nvPicPr>
          <p:cNvPr id="184" name="Picture 7" descr="Picture 7"/>
          <p:cNvPicPr>
            <a:picLocks noChangeAspect="1"/>
          </p:cNvPicPr>
          <p:nvPr/>
        </p:nvPicPr>
        <p:blipFill>
          <a:blip r:embed="rId3">
            <a:extLst/>
          </a:blip>
          <a:stretch>
            <a:fillRect/>
          </a:stretch>
        </p:blipFill>
        <p:spPr>
          <a:xfrm>
            <a:off x="1264781" y="1481327"/>
            <a:ext cx="9659389" cy="3794761"/>
          </a:xfrm>
          <a:prstGeom prst="rect">
            <a:avLst/>
          </a:prstGeom>
          <a:ln w="12700">
            <a:miter lim="400000"/>
          </a:ln>
        </p:spPr>
      </p:pic>
      <p:sp>
        <p:nvSpPr>
          <p:cNvPr id="185" name="TextBox 8"/>
          <p:cNvSpPr txBox="1"/>
          <p:nvPr/>
        </p:nvSpPr>
        <p:spPr>
          <a:xfrm>
            <a:off x="457199" y="5623559"/>
            <a:ext cx="11274553"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900">
                <a:solidFill>
                  <a:srgbClr val="1F4E79"/>
                </a:solidFill>
                <a:latin typeface="Arial"/>
                <a:ea typeface="Arial"/>
                <a:cs typeface="Arial"/>
                <a:sym typeface="Arial"/>
              </a:defRPr>
            </a:lvl1pPr>
          </a:lstStyle>
          <a:p>
            <a:pPr/>
            <a:r>
              <a:t>A 250 MB zip. The graders import it, hand it 20 frames, and read back three arrays.</a:t>
            </a:r>
          </a:p>
        </p:txBody>
      </p:sp>
      <p:sp>
        <p:nvSpPr>
          <p:cNvPr id="186" name="Rectangle 9"/>
          <p:cNvSpPr/>
          <p:nvPr/>
        </p:nvSpPr>
        <p:spPr>
          <a:xfrm>
            <a:off x="0" y="6537959"/>
            <a:ext cx="12188825"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87" name="TextBox 10"/>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188" name="TextBox 11"/>
          <p:cNvSpPr txBox="1"/>
          <p:nvPr/>
        </p:nvSpPr>
        <p:spPr>
          <a:xfrm>
            <a:off x="10862944"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5 / 21</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3"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4"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5"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Why This Is Hard</a:t>
            </a:r>
          </a:p>
        </p:txBody>
      </p:sp>
      <p:sp>
        <p:nvSpPr>
          <p:cNvPr id="196"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Three independent difficulties</a:t>
            </a:r>
          </a:p>
        </p:txBody>
      </p:sp>
      <p:sp>
        <p:nvSpPr>
          <p:cNvPr id="197"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8"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199"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6 / 21</a:t>
            </a:r>
          </a:p>
        </p:txBody>
      </p:sp>
      <p:sp>
        <p:nvSpPr>
          <p:cNvPr id="200" name="Rectangle 9"/>
          <p:cNvSpPr/>
          <p:nvPr/>
        </p:nvSpPr>
        <p:spPr>
          <a:xfrm>
            <a:off x="484631" y="1371599"/>
            <a:ext cx="3642361" cy="1273268"/>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1" name="TextBox 10"/>
          <p:cNvSpPr txBox="1"/>
          <p:nvPr/>
        </p:nvSpPr>
        <p:spPr>
          <a:xfrm>
            <a:off x="530352" y="1365250"/>
            <a:ext cx="3550919" cy="42478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300">
                <a:solidFill>
                  <a:srgbClr val="2E86C1"/>
                </a:solidFill>
                <a:latin typeface="Arial"/>
                <a:ea typeface="Arial"/>
                <a:cs typeface="Arial"/>
                <a:sym typeface="Arial"/>
              </a:defRPr>
            </a:lvl1pPr>
          </a:lstStyle>
          <a:p>
            <a:pPr/>
            <a:r>
              <a:t>Turbulence</a:t>
            </a:r>
          </a:p>
        </p:txBody>
      </p:sp>
      <p:sp>
        <p:nvSpPr>
          <p:cNvPr id="202" name="TextBox 11"/>
          <p:cNvSpPr txBox="1"/>
          <p:nvPr/>
        </p:nvSpPr>
        <p:spPr>
          <a:xfrm>
            <a:off x="777239" y="1913238"/>
            <a:ext cx="3057145" cy="5170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500">
                <a:solidFill>
                  <a:srgbClr val="2C3E50"/>
                </a:solidFill>
                <a:latin typeface="Arial"/>
                <a:ea typeface="Arial"/>
                <a:cs typeface="Arial"/>
                <a:sym typeface="Arial"/>
              </a:defRPr>
            </a:pPr>
            <a:r>
              <a:t>Small errors amplify.</a:t>
            </a:r>
            <a:br/>
            <a:r>
              <a:t>20 frames is a long horizon.</a:t>
            </a:r>
          </a:p>
        </p:txBody>
      </p:sp>
      <p:sp>
        <p:nvSpPr>
          <p:cNvPr id="203" name="Rectangle 12"/>
          <p:cNvSpPr/>
          <p:nvPr/>
        </p:nvSpPr>
        <p:spPr>
          <a:xfrm>
            <a:off x="4273296" y="1371599"/>
            <a:ext cx="3642360" cy="1273268"/>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4" name="TextBox 13"/>
          <p:cNvSpPr txBox="1"/>
          <p:nvPr/>
        </p:nvSpPr>
        <p:spPr>
          <a:xfrm>
            <a:off x="4345050" y="1365250"/>
            <a:ext cx="3550920" cy="42478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300">
                <a:solidFill>
                  <a:srgbClr val="2E86C1"/>
                </a:solidFill>
                <a:latin typeface="Arial"/>
                <a:ea typeface="Arial"/>
                <a:cs typeface="Arial"/>
                <a:sym typeface="Arial"/>
              </a:defRPr>
            </a:lvl1pPr>
          </a:lstStyle>
          <a:p>
            <a:pPr/>
            <a:r>
              <a:t>Extrapolation</a:t>
            </a:r>
          </a:p>
        </p:txBody>
      </p:sp>
      <p:sp>
        <p:nvSpPr>
          <p:cNvPr id="205" name="TextBox 14"/>
          <p:cNvSpPr txBox="1"/>
          <p:nvPr/>
        </p:nvSpPr>
        <p:spPr>
          <a:xfrm>
            <a:off x="4561077" y="1918167"/>
            <a:ext cx="3057146" cy="5170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500">
                <a:solidFill>
                  <a:srgbClr val="2C3E50"/>
                </a:solidFill>
                <a:latin typeface="Arial"/>
                <a:ea typeface="Arial"/>
                <a:cs typeface="Arial"/>
                <a:sym typeface="Arial"/>
              </a:defRPr>
            </a:pPr>
            <a:r>
              <a:t>Test conditions were</a:t>
            </a:r>
            <a:br/>
            <a:r>
              <a:t>never seen in training.</a:t>
            </a:r>
          </a:p>
        </p:txBody>
      </p:sp>
      <p:sp>
        <p:nvSpPr>
          <p:cNvPr id="206" name="Rectangle 15"/>
          <p:cNvSpPr/>
          <p:nvPr/>
        </p:nvSpPr>
        <p:spPr>
          <a:xfrm>
            <a:off x="8061959" y="1371599"/>
            <a:ext cx="3642360" cy="1273268"/>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7" name="TextBox 16"/>
          <p:cNvSpPr txBox="1"/>
          <p:nvPr/>
        </p:nvSpPr>
        <p:spPr>
          <a:xfrm>
            <a:off x="8107680" y="1365250"/>
            <a:ext cx="3550920" cy="42478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300">
                <a:solidFill>
                  <a:srgbClr val="2E86C1"/>
                </a:solidFill>
                <a:latin typeface="Arial"/>
                <a:ea typeface="Arial"/>
                <a:cs typeface="Arial"/>
                <a:sym typeface="Arial"/>
              </a:defRPr>
            </a:lvl1pPr>
          </a:lstStyle>
          <a:p>
            <a:pPr/>
            <a:r>
              <a:t>Irreducible noise</a:t>
            </a:r>
          </a:p>
        </p:txBody>
      </p:sp>
      <p:sp>
        <p:nvSpPr>
          <p:cNvPr id="208" name="TextBox 17"/>
          <p:cNvSpPr txBox="1"/>
          <p:nvPr/>
        </p:nvSpPr>
        <p:spPr>
          <a:xfrm>
            <a:off x="8359393" y="1913238"/>
            <a:ext cx="3057145" cy="5170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500">
                <a:solidFill>
                  <a:srgbClr val="2C3E50"/>
                </a:solidFill>
                <a:latin typeface="Arial"/>
                <a:ea typeface="Arial"/>
                <a:cs typeface="Arial"/>
                <a:sym typeface="Arial"/>
              </a:defRPr>
            </a:pPr>
            <a:r>
              <a:t>The targets themselves</a:t>
            </a:r>
            <a:br/>
            <a:r>
              <a:t>are noisy measurements.</a:t>
            </a:r>
          </a:p>
        </p:txBody>
      </p:sp>
      <p:sp>
        <p:nvSpPr>
          <p:cNvPr id="209" name="Rectangle 18"/>
          <p:cNvSpPr/>
          <p:nvPr/>
        </p:nvSpPr>
        <p:spPr>
          <a:xfrm>
            <a:off x="411479" y="2770088"/>
            <a:ext cx="11365994" cy="3676433"/>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pic>
        <p:nvPicPr>
          <p:cNvPr id="210" name="pasted-movie.png" descr="pasted-movie.png"/>
          <p:cNvPicPr>
            <a:picLocks noChangeAspect="1"/>
          </p:cNvPicPr>
          <p:nvPr/>
        </p:nvPicPr>
        <p:blipFill>
          <a:blip r:embed="rId3">
            <a:extLst/>
          </a:blip>
          <a:stretch>
            <a:fillRect/>
          </a:stretch>
        </p:blipFill>
        <p:spPr>
          <a:xfrm>
            <a:off x="2218601" y="2891754"/>
            <a:ext cx="7742098" cy="333711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15"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16"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17"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The Rules</a:t>
            </a:r>
          </a:p>
        </p:txBody>
      </p:sp>
      <p:sp>
        <p:nvSpPr>
          <p:cNvPr id="218"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Constraints to ensure before every decision</a:t>
            </a:r>
          </a:p>
        </p:txBody>
      </p:sp>
      <p:sp>
        <p:nvSpPr>
          <p:cNvPr id="219"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20"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221"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7 / 21</a:t>
            </a:r>
          </a:p>
        </p:txBody>
      </p:sp>
      <p:sp>
        <p:nvSpPr>
          <p:cNvPr id="222" name="Rectangle 9"/>
          <p:cNvSpPr/>
          <p:nvPr/>
        </p:nvSpPr>
        <p:spPr>
          <a:xfrm>
            <a:off x="466343" y="1645920"/>
            <a:ext cx="2731772" cy="21945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23" name="TextBox 10"/>
          <p:cNvSpPr txBox="1"/>
          <p:nvPr/>
        </p:nvSpPr>
        <p:spPr>
          <a:xfrm>
            <a:off x="512063" y="1847088"/>
            <a:ext cx="2640332" cy="5726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256 MB</a:t>
            </a:r>
          </a:p>
        </p:txBody>
      </p:sp>
      <p:sp>
        <p:nvSpPr>
          <p:cNvPr id="224" name="TextBox 11"/>
          <p:cNvSpPr txBox="1"/>
          <p:nvPr/>
        </p:nvSpPr>
        <p:spPr>
          <a:xfrm>
            <a:off x="694943" y="2560320"/>
            <a:ext cx="2274572" cy="6952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400">
                <a:solidFill>
                  <a:srgbClr val="2C3E50"/>
                </a:solidFill>
                <a:latin typeface="Arial"/>
                <a:ea typeface="Arial"/>
                <a:cs typeface="Arial"/>
                <a:sym typeface="Arial"/>
              </a:defRPr>
            </a:pPr>
            <a:r>
              <a:t>total package size.</a:t>
            </a:r>
            <a:br/>
            <a:r>
              <a:t>The given model is 201 MB.</a:t>
            </a:r>
          </a:p>
        </p:txBody>
      </p:sp>
      <p:sp>
        <p:nvSpPr>
          <p:cNvPr id="225" name="Rectangle 12"/>
          <p:cNvSpPr/>
          <p:nvPr/>
        </p:nvSpPr>
        <p:spPr>
          <a:xfrm>
            <a:off x="3307841" y="1645920"/>
            <a:ext cx="2731771" cy="21945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26" name="TextBox 13"/>
          <p:cNvSpPr txBox="1"/>
          <p:nvPr/>
        </p:nvSpPr>
        <p:spPr>
          <a:xfrm>
            <a:off x="3353561" y="1847088"/>
            <a:ext cx="2640332" cy="5726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5 minutes</a:t>
            </a:r>
          </a:p>
        </p:txBody>
      </p:sp>
      <p:sp>
        <p:nvSpPr>
          <p:cNvPr id="227" name="TextBox 14"/>
          <p:cNvSpPr txBox="1"/>
          <p:nvPr/>
        </p:nvSpPr>
        <p:spPr>
          <a:xfrm>
            <a:off x="3536441" y="2560320"/>
            <a:ext cx="2274571"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400">
                <a:solidFill>
                  <a:srgbClr val="2C3E50"/>
                </a:solidFill>
                <a:latin typeface="Arial"/>
                <a:ea typeface="Arial"/>
                <a:cs typeface="Arial"/>
                <a:sym typeface="Arial"/>
              </a:defRPr>
            </a:pPr>
            <a:r>
              <a:t>hard runtime limit</a:t>
            </a:r>
            <a:r>
              <a:t>,</a:t>
            </a:r>
            <a:br/>
            <a:r>
              <a:t>and speed is scored.</a:t>
            </a:r>
          </a:p>
        </p:txBody>
      </p:sp>
      <p:sp>
        <p:nvSpPr>
          <p:cNvPr id="228" name="Rectangle 15"/>
          <p:cNvSpPr/>
          <p:nvPr/>
        </p:nvSpPr>
        <p:spPr>
          <a:xfrm>
            <a:off x="6149340" y="1645920"/>
            <a:ext cx="2731771" cy="21945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29" name="TextBox 16"/>
          <p:cNvSpPr txBox="1"/>
          <p:nvPr/>
        </p:nvSpPr>
        <p:spPr>
          <a:xfrm>
            <a:off x="6195060" y="1847088"/>
            <a:ext cx="2640331" cy="5726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1 per day</a:t>
            </a:r>
          </a:p>
        </p:txBody>
      </p:sp>
      <p:sp>
        <p:nvSpPr>
          <p:cNvPr id="230" name="TextBox 17"/>
          <p:cNvSpPr txBox="1"/>
          <p:nvPr/>
        </p:nvSpPr>
        <p:spPr>
          <a:xfrm>
            <a:off x="6377940" y="2560320"/>
            <a:ext cx="2274571"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400">
                <a:solidFill>
                  <a:srgbClr val="2C3E50"/>
                </a:solidFill>
                <a:latin typeface="Arial"/>
                <a:ea typeface="Arial"/>
                <a:cs typeface="Arial"/>
                <a:sym typeface="Arial"/>
              </a:defRPr>
            </a:pPr>
            <a:r>
              <a:t>submissions. One real</a:t>
            </a:r>
            <a:br/>
            <a:r>
              <a:t>measurement per 24 h.</a:t>
            </a:r>
          </a:p>
        </p:txBody>
      </p:sp>
      <p:sp>
        <p:nvSpPr>
          <p:cNvPr id="231" name="Rectangle 18"/>
          <p:cNvSpPr/>
          <p:nvPr/>
        </p:nvSpPr>
        <p:spPr>
          <a:xfrm>
            <a:off x="8990838" y="1645920"/>
            <a:ext cx="2731771" cy="21945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32" name="TextBox 19"/>
          <p:cNvSpPr txBox="1"/>
          <p:nvPr/>
        </p:nvSpPr>
        <p:spPr>
          <a:xfrm>
            <a:off x="9036557" y="1847088"/>
            <a:ext cx="2640331" cy="5726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400">
                <a:solidFill>
                  <a:srgbClr val="2E86C1"/>
                </a:solidFill>
                <a:latin typeface="Arial"/>
                <a:ea typeface="Arial"/>
                <a:cs typeface="Arial"/>
                <a:sym typeface="Arial"/>
              </a:defRPr>
            </a:lvl1pPr>
          </a:lstStyle>
          <a:p>
            <a:pPr/>
            <a:r>
              <a:t>Top 10 only</a:t>
            </a:r>
          </a:p>
        </p:txBody>
      </p:sp>
      <p:sp>
        <p:nvSpPr>
          <p:cNvPr id="233" name="TextBox 20"/>
          <p:cNvSpPr txBox="1"/>
          <p:nvPr/>
        </p:nvSpPr>
        <p:spPr>
          <a:xfrm>
            <a:off x="9219438" y="2560320"/>
            <a:ext cx="2274571" cy="4920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400">
                <a:solidFill>
                  <a:srgbClr val="2C3E50"/>
                </a:solidFill>
                <a:latin typeface="Arial"/>
                <a:ea typeface="Arial"/>
                <a:cs typeface="Arial"/>
                <a:sym typeface="Arial"/>
              </a:defRPr>
            </a:pPr>
            <a:r>
              <a:t>are shortlisted for the</a:t>
            </a:r>
            <a:br/>
            <a:r>
              <a:t>final private re-scoring.</a:t>
            </a:r>
          </a:p>
        </p:txBody>
      </p:sp>
      <p:sp>
        <p:nvSpPr>
          <p:cNvPr id="234" name="Rectangle 21"/>
          <p:cNvSpPr/>
          <p:nvPr/>
        </p:nvSpPr>
        <p:spPr>
          <a:xfrm>
            <a:off x="411479" y="4206240"/>
            <a:ext cx="11365994" cy="1920241"/>
          </a:xfrm>
          <a:prstGeom prst="rect">
            <a:avLst/>
          </a:prstGeom>
          <a:solidFill>
            <a:srgbClr val="FFFFFF"/>
          </a:solidFill>
          <a:ln w="25400">
            <a:solidFill>
              <a:srgbClr val="CA6F1E"/>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35" name="TextBox 22"/>
          <p:cNvSpPr txBox="1"/>
          <p:nvPr/>
        </p:nvSpPr>
        <p:spPr>
          <a:xfrm>
            <a:off x="457199" y="4434840"/>
            <a:ext cx="11274553" cy="4125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200">
                <a:solidFill>
                  <a:srgbClr val="CA6F1E"/>
                </a:solidFill>
                <a:latin typeface="Arial"/>
                <a:ea typeface="Arial"/>
                <a:cs typeface="Arial"/>
                <a:sym typeface="Arial"/>
              </a:defRPr>
            </a:lvl1pPr>
          </a:lstStyle>
          <a:p>
            <a:pPr/>
            <a:r>
              <a:t>One measurement per day makes guessing unaffordable.</a:t>
            </a:r>
          </a:p>
        </p:txBody>
      </p:sp>
      <p:sp>
        <p:nvSpPr>
          <p:cNvPr id="236" name="TextBox 23"/>
          <p:cNvSpPr txBox="1"/>
          <p:nvPr/>
        </p:nvSpPr>
        <p:spPr>
          <a:xfrm>
            <a:off x="1188719" y="4983479"/>
            <a:ext cx="9811513" cy="3011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500">
                <a:solidFill>
                  <a:srgbClr val="2C3E50"/>
                </a:solidFill>
                <a:latin typeface="Arial"/>
                <a:ea typeface="Arial"/>
                <a:cs typeface="Arial"/>
                <a:sym typeface="Arial"/>
              </a:defRPr>
            </a:lvl1pPr>
          </a:lstStyle>
          <a:p>
            <a:pPr/>
            <a:r>
              <a:t>Every submission had to be justified by a written prediction, and every prediction checked afterwards.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41"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42"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43"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How a Submission Is Scored</a:t>
            </a:r>
          </a:p>
        </p:txBody>
      </p:sp>
      <p:sp>
        <p:nvSpPr>
          <p:cNvPr id="244"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solidFill>
                  <a:srgbClr val="D6E4F0"/>
                </a:solidFill>
                <a:latin typeface="Arial"/>
                <a:ea typeface="Arial"/>
                <a:cs typeface="Arial"/>
                <a:sym typeface="Arial"/>
              </a:defRPr>
            </a:pPr>
            <a:r>
              <a:t>Five channels </a:t>
            </a:r>
            <a:r>
              <a:t>to score on : the</a:t>
            </a:r>
            <a:r>
              <a:t> combining weights were never published</a:t>
            </a:r>
          </a:p>
        </p:txBody>
      </p:sp>
      <p:sp>
        <p:nvSpPr>
          <p:cNvPr id="245"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46"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247"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8 / 21</a:t>
            </a:r>
          </a:p>
        </p:txBody>
      </p:sp>
      <p:sp>
        <p:nvSpPr>
          <p:cNvPr id="248" name="Rectangle 9"/>
          <p:cNvSpPr/>
          <p:nvPr/>
        </p:nvSpPr>
        <p:spPr>
          <a:xfrm>
            <a:off x="411480" y="1371600"/>
            <a:ext cx="6766560" cy="507492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49" name="TextBox 10"/>
          <p:cNvSpPr txBox="1"/>
          <p:nvPr/>
        </p:nvSpPr>
        <p:spPr>
          <a:xfrm>
            <a:off x="777239" y="1783079"/>
            <a:ext cx="1280161"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F4E79"/>
                </a:solidFill>
                <a:latin typeface="Arial"/>
                <a:ea typeface="Arial"/>
                <a:cs typeface="Arial"/>
                <a:sym typeface="Arial"/>
              </a:defRPr>
            </a:lvl1pPr>
          </a:lstStyle>
          <a:p>
            <a:pPr/>
            <a:r>
              <a:t>rel_l2</a:t>
            </a:r>
          </a:p>
        </p:txBody>
      </p:sp>
      <p:sp>
        <p:nvSpPr>
          <p:cNvPr id="250" name="TextBox 11"/>
          <p:cNvSpPr txBox="1"/>
          <p:nvPr/>
        </p:nvSpPr>
        <p:spPr>
          <a:xfrm>
            <a:off x="2286000" y="1828800"/>
            <a:ext cx="3291840" cy="3011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2C3E50"/>
                </a:solidFill>
                <a:latin typeface="Arial"/>
                <a:ea typeface="Arial"/>
                <a:cs typeface="Arial"/>
                <a:sym typeface="Arial"/>
              </a:defRPr>
            </a:lvl1pPr>
          </a:lstStyle>
          <a:p>
            <a:pPr/>
            <a:r>
              <a:t>overall velocity error</a:t>
            </a:r>
          </a:p>
        </p:txBody>
      </p:sp>
      <p:sp>
        <p:nvSpPr>
          <p:cNvPr id="251" name="TextBox 12"/>
          <p:cNvSpPr txBox="1"/>
          <p:nvPr/>
        </p:nvSpPr>
        <p:spPr>
          <a:xfrm>
            <a:off x="5669279" y="1783079"/>
            <a:ext cx="1188721"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900">
                <a:solidFill>
                  <a:srgbClr val="1F4E79"/>
                </a:solidFill>
                <a:latin typeface="Arial"/>
                <a:ea typeface="Arial"/>
                <a:cs typeface="Arial"/>
                <a:sym typeface="Arial"/>
              </a:defRPr>
            </a:lvl1pPr>
          </a:lstStyle>
          <a:p>
            <a:pPr/>
            <a:r>
              <a:t>46.7%</a:t>
            </a:r>
          </a:p>
        </p:txBody>
      </p:sp>
      <p:sp>
        <p:nvSpPr>
          <p:cNvPr id="252" name="TextBox 13"/>
          <p:cNvSpPr txBox="1"/>
          <p:nvPr/>
        </p:nvSpPr>
        <p:spPr>
          <a:xfrm>
            <a:off x="777239" y="2532888"/>
            <a:ext cx="1280161"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F4E79"/>
                </a:solidFill>
                <a:latin typeface="Arial"/>
                <a:ea typeface="Arial"/>
                <a:cs typeface="Arial"/>
                <a:sym typeface="Arial"/>
              </a:defRPr>
            </a:lvl1pPr>
          </a:lstStyle>
          <a:p>
            <a:pPr/>
            <a:r>
              <a:t>tke</a:t>
            </a:r>
          </a:p>
        </p:txBody>
      </p:sp>
      <p:sp>
        <p:nvSpPr>
          <p:cNvPr id="253" name="TextBox 14"/>
          <p:cNvSpPr txBox="1"/>
          <p:nvPr/>
        </p:nvSpPr>
        <p:spPr>
          <a:xfrm>
            <a:off x="2286000" y="2578607"/>
            <a:ext cx="3291840" cy="3011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2C3E50"/>
                </a:solidFill>
                <a:latin typeface="Arial"/>
                <a:ea typeface="Arial"/>
                <a:cs typeface="Arial"/>
                <a:sym typeface="Arial"/>
              </a:defRPr>
            </a:lvl1pPr>
          </a:lstStyle>
          <a:p>
            <a:pPr/>
            <a:r>
              <a:t>turbulent kinetic energy</a:t>
            </a:r>
          </a:p>
        </p:txBody>
      </p:sp>
      <p:sp>
        <p:nvSpPr>
          <p:cNvPr id="254" name="TextBox 15"/>
          <p:cNvSpPr txBox="1"/>
          <p:nvPr/>
        </p:nvSpPr>
        <p:spPr>
          <a:xfrm>
            <a:off x="5669279" y="2532888"/>
            <a:ext cx="1188721"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900">
                <a:solidFill>
                  <a:srgbClr val="1F4E79"/>
                </a:solidFill>
                <a:latin typeface="Arial"/>
                <a:ea typeface="Arial"/>
                <a:cs typeface="Arial"/>
                <a:sym typeface="Arial"/>
              </a:defRPr>
            </a:lvl1pPr>
          </a:lstStyle>
          <a:p>
            <a:pPr/>
            <a:r>
              <a:t>10.0%</a:t>
            </a:r>
          </a:p>
        </p:txBody>
      </p:sp>
      <p:sp>
        <p:nvSpPr>
          <p:cNvPr id="255" name="TextBox 16"/>
          <p:cNvSpPr txBox="1"/>
          <p:nvPr/>
        </p:nvSpPr>
        <p:spPr>
          <a:xfrm>
            <a:off x="777239" y="3282696"/>
            <a:ext cx="1280161"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F4E79"/>
                </a:solidFill>
                <a:latin typeface="Arial"/>
                <a:ea typeface="Arial"/>
                <a:cs typeface="Arial"/>
                <a:sym typeface="Arial"/>
              </a:defRPr>
            </a:lvl1pPr>
          </a:lstStyle>
          <a:p>
            <a:pPr/>
            <a:r>
              <a:t>mvpe</a:t>
            </a:r>
          </a:p>
        </p:txBody>
      </p:sp>
      <p:sp>
        <p:nvSpPr>
          <p:cNvPr id="256" name="TextBox 17"/>
          <p:cNvSpPr txBox="1"/>
          <p:nvPr/>
        </p:nvSpPr>
        <p:spPr>
          <a:xfrm>
            <a:off x="2286000" y="3328415"/>
            <a:ext cx="3291840" cy="3011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2C3E50"/>
                </a:solidFill>
                <a:latin typeface="Arial"/>
                <a:ea typeface="Arial"/>
                <a:cs typeface="Arial"/>
                <a:sym typeface="Arial"/>
              </a:defRPr>
            </a:lvl1pPr>
          </a:lstStyle>
          <a:p>
            <a:pPr/>
            <a:r>
              <a:t>error at 9 wake probes</a:t>
            </a:r>
          </a:p>
        </p:txBody>
      </p:sp>
      <p:sp>
        <p:nvSpPr>
          <p:cNvPr id="257" name="TextBox 18"/>
          <p:cNvSpPr txBox="1"/>
          <p:nvPr/>
        </p:nvSpPr>
        <p:spPr>
          <a:xfrm>
            <a:off x="5669279" y="3282696"/>
            <a:ext cx="1188721"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900">
                <a:solidFill>
                  <a:srgbClr val="1F4E79"/>
                </a:solidFill>
                <a:latin typeface="Arial"/>
                <a:ea typeface="Arial"/>
                <a:cs typeface="Arial"/>
                <a:sym typeface="Arial"/>
              </a:defRPr>
            </a:lvl1pPr>
          </a:lstStyle>
          <a:p>
            <a:pPr/>
            <a:r>
              <a:t>9.4%</a:t>
            </a:r>
          </a:p>
        </p:txBody>
      </p:sp>
      <p:sp>
        <p:nvSpPr>
          <p:cNvPr id="258" name="TextBox 19"/>
          <p:cNvSpPr txBox="1"/>
          <p:nvPr/>
        </p:nvSpPr>
        <p:spPr>
          <a:xfrm>
            <a:off x="777239" y="4032503"/>
            <a:ext cx="1280161"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F4E79"/>
                </a:solidFill>
                <a:latin typeface="Arial"/>
                <a:ea typeface="Arial"/>
                <a:cs typeface="Arial"/>
                <a:sym typeface="Arial"/>
              </a:defRPr>
            </a:lvl1pPr>
          </a:lstStyle>
          <a:p>
            <a:pPr/>
            <a:r>
              <a:t>time</a:t>
            </a:r>
          </a:p>
        </p:txBody>
      </p:sp>
      <p:sp>
        <p:nvSpPr>
          <p:cNvPr id="259" name="TextBox 20"/>
          <p:cNvSpPr txBox="1"/>
          <p:nvPr/>
        </p:nvSpPr>
        <p:spPr>
          <a:xfrm>
            <a:off x="2286000" y="4078223"/>
            <a:ext cx="3291840" cy="3011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2C3E50"/>
                </a:solidFill>
                <a:latin typeface="Arial"/>
                <a:ea typeface="Arial"/>
                <a:cs typeface="Arial"/>
                <a:sym typeface="Arial"/>
              </a:defRPr>
            </a:lvl1pPr>
          </a:lstStyle>
          <a:p>
            <a:pPr/>
            <a:r>
              <a:t>how fast the code runs</a:t>
            </a:r>
          </a:p>
        </p:txBody>
      </p:sp>
      <p:sp>
        <p:nvSpPr>
          <p:cNvPr id="260" name="TextBox 21"/>
          <p:cNvSpPr txBox="1"/>
          <p:nvPr/>
        </p:nvSpPr>
        <p:spPr>
          <a:xfrm>
            <a:off x="5669279" y="4032503"/>
            <a:ext cx="1188721"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900">
                <a:solidFill>
                  <a:srgbClr val="1F4E79"/>
                </a:solidFill>
                <a:latin typeface="Arial"/>
                <a:ea typeface="Arial"/>
                <a:cs typeface="Arial"/>
                <a:sym typeface="Arial"/>
              </a:defRPr>
            </a:lvl1pPr>
          </a:lstStyle>
          <a:p>
            <a:pPr/>
            <a:r>
              <a:t>9.7%</a:t>
            </a:r>
          </a:p>
        </p:txBody>
      </p:sp>
      <p:sp>
        <p:nvSpPr>
          <p:cNvPr id="261" name="TextBox 22"/>
          <p:cNvSpPr txBox="1"/>
          <p:nvPr/>
        </p:nvSpPr>
        <p:spPr>
          <a:xfrm>
            <a:off x="777239" y="4782311"/>
            <a:ext cx="1280161"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CA6F1E"/>
                </a:solidFill>
                <a:latin typeface="Arial"/>
                <a:ea typeface="Arial"/>
                <a:cs typeface="Arial"/>
                <a:sym typeface="Arial"/>
              </a:defRPr>
            </a:lvl1pPr>
          </a:lstStyle>
          <a:p>
            <a:pPr/>
            <a:r>
              <a:t>sps</a:t>
            </a:r>
          </a:p>
        </p:txBody>
      </p:sp>
      <p:sp>
        <p:nvSpPr>
          <p:cNvPr id="262" name="TextBox 23"/>
          <p:cNvSpPr txBox="1"/>
          <p:nvPr/>
        </p:nvSpPr>
        <p:spPr>
          <a:xfrm>
            <a:off x="2286000" y="4828032"/>
            <a:ext cx="3291840" cy="3011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2C3E50"/>
                </a:solidFill>
                <a:latin typeface="Arial"/>
                <a:ea typeface="Arial"/>
                <a:cs typeface="Arial"/>
                <a:sym typeface="Arial"/>
              </a:defRPr>
            </a:lvl1pPr>
          </a:lstStyle>
          <a:p>
            <a:pPr/>
            <a:r>
              <a:t>quality of the UNCERTAINTY</a:t>
            </a:r>
          </a:p>
        </p:txBody>
      </p:sp>
      <p:sp>
        <p:nvSpPr>
          <p:cNvPr id="263" name="TextBox 24"/>
          <p:cNvSpPr txBox="1"/>
          <p:nvPr/>
        </p:nvSpPr>
        <p:spPr>
          <a:xfrm>
            <a:off x="5669279" y="4782311"/>
            <a:ext cx="1188721"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900">
                <a:solidFill>
                  <a:srgbClr val="CA6F1E"/>
                </a:solidFill>
                <a:latin typeface="Arial"/>
                <a:ea typeface="Arial"/>
                <a:cs typeface="Arial"/>
                <a:sym typeface="Arial"/>
              </a:defRPr>
            </a:lvl1pPr>
          </a:lstStyle>
          <a:p>
            <a:pPr/>
            <a:r>
              <a:t>24.7%</a:t>
            </a:r>
          </a:p>
        </p:txBody>
      </p:sp>
      <p:sp>
        <p:nvSpPr>
          <p:cNvPr id="264" name="Rectangle 25"/>
          <p:cNvSpPr/>
          <p:nvPr/>
        </p:nvSpPr>
        <p:spPr>
          <a:xfrm>
            <a:off x="7360919" y="1371600"/>
            <a:ext cx="4416553" cy="5074921"/>
          </a:xfrm>
          <a:prstGeom prst="rect">
            <a:avLst/>
          </a:prstGeom>
          <a:solidFill>
            <a:srgbClr val="FFFFFF"/>
          </a:solidFill>
          <a:ln w="25400">
            <a:solidFill>
              <a:srgbClr val="CA6F1E"/>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65" name="TextBox 26"/>
          <p:cNvSpPr txBox="1"/>
          <p:nvPr/>
        </p:nvSpPr>
        <p:spPr>
          <a:xfrm>
            <a:off x="7635239" y="1691639"/>
            <a:ext cx="3867913" cy="76768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300">
                <a:solidFill>
                  <a:srgbClr val="CA6F1E"/>
                </a:solidFill>
                <a:latin typeface="Arial"/>
                <a:ea typeface="Arial"/>
                <a:cs typeface="Arial"/>
                <a:sym typeface="Arial"/>
              </a:defRPr>
            </a:pPr>
            <a:r>
              <a:t>We recovered the</a:t>
            </a:r>
            <a:br/>
            <a:r>
              <a:t>hidden weights</a:t>
            </a:r>
          </a:p>
        </p:txBody>
      </p:sp>
      <p:sp>
        <p:nvSpPr>
          <p:cNvPr id="266" name="TextBox 27"/>
          <p:cNvSpPr txBox="1"/>
          <p:nvPr/>
        </p:nvSpPr>
        <p:spPr>
          <a:xfrm>
            <a:off x="7635239" y="2743200"/>
            <a:ext cx="3867913" cy="12515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a:solidFill>
                  <a:srgbClr val="2C3E50"/>
                </a:solidFill>
                <a:latin typeface="Arial"/>
                <a:ea typeface="Arial"/>
                <a:cs typeface="Arial"/>
                <a:sym typeface="Arial"/>
              </a:defRPr>
            </a:lvl1pPr>
          </a:lstStyle>
          <a:p>
            <a:pPr/>
            <a:r>
              <a:t>Built an MCP tool for the coda bench leaderboard which helped in predicting weights of all metrics</a:t>
            </a:r>
          </a:p>
        </p:txBody>
      </p:sp>
      <p:sp>
        <p:nvSpPr>
          <p:cNvPr id="267" name="TextBox 28"/>
          <p:cNvSpPr txBox="1"/>
          <p:nvPr/>
        </p:nvSpPr>
        <p:spPr>
          <a:xfrm>
            <a:off x="7635239" y="4318389"/>
            <a:ext cx="3867913" cy="9594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a:solidFill>
                  <a:srgbClr val="1A2E4A"/>
                </a:solidFill>
                <a:latin typeface="Arial"/>
                <a:ea typeface="Arial"/>
                <a:cs typeface="Arial"/>
                <a:sym typeface="Arial"/>
              </a:defRPr>
            </a:lvl1pPr>
          </a:lstStyle>
          <a:p>
            <a:pPr/>
            <a:r>
              <a:t>This turned revealed that uncertainty is worth a quarter of the score.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2"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3"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4"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The Unusual Channel: Uncertainty</a:t>
            </a:r>
          </a:p>
        </p:txBody>
      </p:sp>
      <p:sp>
        <p:nvSpPr>
          <p:cNvPr id="275"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We may return a lower and upper bound for every value</a:t>
            </a:r>
          </a:p>
        </p:txBody>
      </p:sp>
      <p:sp>
        <p:nvSpPr>
          <p:cNvPr id="276"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7"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278"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9 / 21</a:t>
            </a:r>
          </a:p>
        </p:txBody>
      </p:sp>
      <p:sp>
        <p:nvSpPr>
          <p:cNvPr id="279" name="Rectangle 9"/>
          <p:cNvSpPr/>
          <p:nvPr/>
        </p:nvSpPr>
        <p:spPr>
          <a:xfrm>
            <a:off x="411479" y="1371600"/>
            <a:ext cx="11365994" cy="3657600"/>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pic>
        <p:nvPicPr>
          <p:cNvPr id="280" name="Picture 10" descr="Picture 10"/>
          <p:cNvPicPr>
            <a:picLocks noChangeAspect="1"/>
          </p:cNvPicPr>
          <p:nvPr/>
        </p:nvPicPr>
        <p:blipFill>
          <a:blip r:embed="rId3">
            <a:extLst/>
          </a:blip>
          <a:stretch>
            <a:fillRect/>
          </a:stretch>
        </p:blipFill>
        <p:spPr>
          <a:xfrm>
            <a:off x="1708545" y="1481327"/>
            <a:ext cx="8771861" cy="3429001"/>
          </a:xfrm>
          <a:prstGeom prst="rect">
            <a:avLst/>
          </a:prstGeom>
          <a:ln w="12700">
            <a:miter lim="400000"/>
          </a:ln>
        </p:spPr>
      </p:pic>
      <p:sp>
        <p:nvSpPr>
          <p:cNvPr id="281" name="TextBox 11"/>
          <p:cNvSpPr txBox="1"/>
          <p:nvPr/>
        </p:nvSpPr>
        <p:spPr>
          <a:xfrm>
            <a:off x="457199" y="5303520"/>
            <a:ext cx="11274553" cy="6423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900">
                <a:solidFill>
                  <a:srgbClr val="1F4E79"/>
                </a:solidFill>
                <a:latin typeface="Arial"/>
                <a:ea typeface="Arial"/>
                <a:cs typeface="Arial"/>
                <a:sym typeface="Arial"/>
              </a:defRPr>
            </a:lvl1pPr>
          </a:lstStyle>
          <a:p>
            <a:pPr/>
            <a:r>
              <a:t>Narrow and correct is the only thing that pays.  Being cautious is punished almost as hard as being wrong.</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Rectangle 1"/>
          <p:cNvSpPr/>
          <p:nvPr/>
        </p:nvSpPr>
        <p:spPr>
          <a:xfrm>
            <a:off x="0" y="0"/>
            <a:ext cx="12188825"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86" name="Rectangle 2"/>
          <p:cNvSpPr/>
          <p:nvPr/>
        </p:nvSpPr>
        <p:spPr>
          <a:xfrm>
            <a:off x="0" y="-1"/>
            <a:ext cx="12188825"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87" name="Rectangle 3"/>
          <p:cNvSpPr/>
          <p:nvPr/>
        </p:nvSpPr>
        <p:spPr>
          <a:xfrm>
            <a:off x="0" y="1051560"/>
            <a:ext cx="12188825"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88" name="TextBox 4"/>
          <p:cNvSpPr txBox="1"/>
          <p:nvPr/>
        </p:nvSpPr>
        <p:spPr>
          <a:xfrm>
            <a:off x="502919" y="164592"/>
            <a:ext cx="11182986"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The Tool built</a:t>
            </a:r>
          </a:p>
        </p:txBody>
      </p:sp>
      <p:sp>
        <p:nvSpPr>
          <p:cNvPr id="289" name="TextBox 5"/>
          <p:cNvSpPr txBox="1"/>
          <p:nvPr/>
        </p:nvSpPr>
        <p:spPr>
          <a:xfrm>
            <a:off x="521207" y="658368"/>
            <a:ext cx="11182986"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MCP using Codabench API’s public endpoint</a:t>
            </a:r>
          </a:p>
        </p:txBody>
      </p:sp>
      <p:sp>
        <p:nvSpPr>
          <p:cNvPr id="290" name="Rectangle 6"/>
          <p:cNvSpPr/>
          <p:nvPr/>
        </p:nvSpPr>
        <p:spPr>
          <a:xfrm>
            <a:off x="411480" y="1270043"/>
            <a:ext cx="5545836" cy="5074922"/>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91" name="TextBox 7"/>
          <p:cNvSpPr txBox="1"/>
          <p:nvPr/>
        </p:nvSpPr>
        <p:spPr>
          <a:xfrm>
            <a:off x="685800" y="1347466"/>
            <a:ext cx="4997196"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A2E4A"/>
                </a:solidFill>
                <a:latin typeface="Arial"/>
                <a:ea typeface="Arial"/>
                <a:cs typeface="Arial"/>
                <a:sym typeface="Arial"/>
              </a:defRPr>
            </a:lvl1pPr>
          </a:lstStyle>
          <a:p>
            <a:pPr/>
            <a:r>
              <a:t>The problem</a:t>
            </a:r>
          </a:p>
        </p:txBody>
      </p:sp>
      <p:sp>
        <p:nvSpPr>
          <p:cNvPr id="292" name="TextBox 8"/>
          <p:cNvSpPr txBox="1"/>
          <p:nvPr/>
        </p:nvSpPr>
        <p:spPr>
          <a:xfrm>
            <a:off x="731519" y="1712747"/>
            <a:ext cx="4905757" cy="17607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600"/>
              </a:spcBef>
              <a:defRPr sz="1700">
                <a:solidFill>
                  <a:srgbClr val="2C3E50"/>
                </a:solidFill>
                <a:latin typeface="Arial"/>
                <a:ea typeface="Arial"/>
                <a:cs typeface="Arial"/>
                <a:sym typeface="Arial"/>
              </a:defRPr>
            </a:pPr>
            <a:r>
              <a:t>•  The leaderboard shows one number per team.</a:t>
            </a:r>
          </a:p>
          <a:p>
            <a:pPr>
              <a:spcBef>
                <a:spcPts val="1600"/>
              </a:spcBef>
              <a:defRPr sz="1700">
                <a:solidFill>
                  <a:srgbClr val="2C3E50"/>
                </a:solidFill>
                <a:latin typeface="Arial"/>
                <a:ea typeface="Arial"/>
                <a:cs typeface="Arial"/>
                <a:sym typeface="Arial"/>
              </a:defRPr>
            </a:pPr>
            <a:r>
              <a:t>•  That number hides which of the five channels you are losing on.</a:t>
            </a:r>
          </a:p>
          <a:p>
            <a:pPr>
              <a:spcBef>
                <a:spcPts val="1600"/>
              </a:spcBef>
              <a:defRPr sz="1700">
                <a:solidFill>
                  <a:srgbClr val="2C3E50"/>
                </a:solidFill>
                <a:latin typeface="Arial"/>
                <a:ea typeface="Arial"/>
                <a:cs typeface="Arial"/>
                <a:sym typeface="Arial"/>
              </a:defRPr>
            </a:pPr>
            <a:r>
              <a:t>•  With one submission per day, spending them to find out is unaffordable.</a:t>
            </a:r>
          </a:p>
        </p:txBody>
      </p:sp>
      <p:sp>
        <p:nvSpPr>
          <p:cNvPr id="293" name="TextBox 9"/>
          <p:cNvSpPr txBox="1"/>
          <p:nvPr/>
        </p:nvSpPr>
        <p:spPr>
          <a:xfrm>
            <a:off x="731519" y="3720046"/>
            <a:ext cx="4905757"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A2E4A"/>
                </a:solidFill>
                <a:latin typeface="Arial"/>
                <a:ea typeface="Arial"/>
                <a:cs typeface="Arial"/>
                <a:sym typeface="Arial"/>
              </a:defRPr>
            </a:lvl1pPr>
          </a:lstStyle>
          <a:p>
            <a:pPr/>
            <a:r>
              <a:t>What I built</a:t>
            </a:r>
          </a:p>
        </p:txBody>
      </p:sp>
      <p:sp>
        <p:nvSpPr>
          <p:cNvPr id="294" name="TextBox 10"/>
          <p:cNvSpPr txBox="1"/>
          <p:nvPr/>
        </p:nvSpPr>
        <p:spPr>
          <a:xfrm>
            <a:off x="731519" y="4231011"/>
            <a:ext cx="4905757" cy="17611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200"/>
              </a:spcBef>
              <a:defRPr sz="1600">
                <a:solidFill>
                  <a:srgbClr val="2C3E50"/>
                </a:solidFill>
                <a:latin typeface="Arial"/>
                <a:ea typeface="Arial"/>
                <a:cs typeface="Arial"/>
                <a:sym typeface="Arial"/>
              </a:defRPr>
            </a:pPr>
            <a:r>
              <a:t>•  A small tool that reads Codabench's public API directly.</a:t>
            </a:r>
          </a:p>
          <a:p>
            <a:pPr>
              <a:spcBef>
                <a:spcPts val="1200"/>
              </a:spcBef>
              <a:defRPr sz="1600">
                <a:solidFill>
                  <a:srgbClr val="2C3E50"/>
                </a:solidFill>
                <a:latin typeface="Arial"/>
                <a:ea typeface="Arial"/>
                <a:cs typeface="Arial"/>
                <a:sym typeface="Arial"/>
              </a:defRPr>
            </a:pPr>
            <a:r>
              <a:t>•  Pulls every team's per-channel scores, not just the total.</a:t>
            </a:r>
          </a:p>
          <a:p>
            <a:pPr>
              <a:spcBef>
                <a:spcPts val="1200"/>
              </a:spcBef>
              <a:defRPr sz="1600">
                <a:solidFill>
                  <a:srgbClr val="2C3E50"/>
                </a:solidFill>
                <a:latin typeface="Arial"/>
                <a:ea typeface="Arial"/>
                <a:cs typeface="Arial"/>
                <a:sym typeface="Arial"/>
              </a:defRPr>
            </a:pPr>
            <a:r>
              <a:t>•  Refreshes the standings on demand during analysis.</a:t>
            </a:r>
          </a:p>
        </p:txBody>
      </p:sp>
      <p:sp>
        <p:nvSpPr>
          <p:cNvPr id="295" name="Rectangle 11"/>
          <p:cNvSpPr/>
          <p:nvPr/>
        </p:nvSpPr>
        <p:spPr>
          <a:xfrm>
            <a:off x="6231635" y="1270043"/>
            <a:ext cx="5545837" cy="5074922"/>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96" name="TextBox 12"/>
          <p:cNvSpPr txBox="1"/>
          <p:nvPr/>
        </p:nvSpPr>
        <p:spPr>
          <a:xfrm>
            <a:off x="6505955" y="1347466"/>
            <a:ext cx="4997197"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E8B4C"/>
                </a:solidFill>
                <a:latin typeface="Arial"/>
                <a:ea typeface="Arial"/>
                <a:cs typeface="Arial"/>
                <a:sym typeface="Arial"/>
              </a:defRPr>
            </a:lvl1pPr>
          </a:lstStyle>
          <a:p>
            <a:pPr/>
            <a:r>
              <a:t>What it bought us</a:t>
            </a:r>
          </a:p>
        </p:txBody>
      </p:sp>
      <p:sp>
        <p:nvSpPr>
          <p:cNvPr id="297" name="TextBox 13"/>
          <p:cNvSpPr txBox="1"/>
          <p:nvPr/>
        </p:nvSpPr>
        <p:spPr>
          <a:xfrm>
            <a:off x="6551676" y="1856121"/>
            <a:ext cx="4905757" cy="18627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600"/>
              </a:spcBef>
              <a:defRPr sz="1600">
                <a:solidFill>
                  <a:srgbClr val="2C3E50"/>
                </a:solidFill>
                <a:latin typeface="Arial"/>
                <a:ea typeface="Arial"/>
                <a:cs typeface="Arial"/>
                <a:sym typeface="Arial"/>
              </a:defRPr>
            </a:pPr>
            <a:r>
              <a:t>•  Showed uncertainty had a whopping 25% weightage.</a:t>
            </a:r>
          </a:p>
          <a:p>
            <a:pPr>
              <a:spcBef>
                <a:spcPts val="1600"/>
              </a:spcBef>
              <a:defRPr sz="1600">
                <a:solidFill>
                  <a:srgbClr val="2C3E50"/>
                </a:solidFill>
                <a:latin typeface="Arial"/>
                <a:ea typeface="Arial"/>
                <a:cs typeface="Arial"/>
                <a:sym typeface="Arial"/>
              </a:defRPr>
            </a:pPr>
            <a:r>
              <a:t>• Concludes that SPS is the metric to be the most focussed on because it is the most volatile.</a:t>
            </a:r>
          </a:p>
          <a:p>
            <a:pPr>
              <a:spcBef>
                <a:spcPts val="1600"/>
              </a:spcBef>
              <a:defRPr sz="1600">
                <a:solidFill>
                  <a:srgbClr val="2C3E50"/>
                </a:solidFill>
                <a:latin typeface="Arial"/>
                <a:ea typeface="Arial"/>
                <a:cs typeface="Arial"/>
                <a:sym typeface="Arial"/>
              </a:defRPr>
            </a:pPr>
            <a:r>
              <a:t>•  Let us reverse-engineer the leader's model-vs-uncertainty split</a:t>
            </a:r>
            <a:r>
              <a:t>.</a:t>
            </a:r>
          </a:p>
        </p:txBody>
      </p:sp>
      <p:sp>
        <p:nvSpPr>
          <p:cNvPr id="298" name="Rectangle 14"/>
          <p:cNvSpPr/>
          <p:nvPr/>
        </p:nvSpPr>
        <p:spPr>
          <a:xfrm>
            <a:off x="6505956" y="4068124"/>
            <a:ext cx="4997197" cy="1463041"/>
          </a:xfrm>
          <a:prstGeom prst="rect">
            <a:avLst/>
          </a:prstGeom>
          <a:solidFill>
            <a:srgbClr val="F4F6F9"/>
          </a:solidFill>
          <a:ln w="20320">
            <a:solidFill>
              <a:srgbClr val="CA6F1E"/>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99" name="TextBox 15"/>
          <p:cNvSpPr txBox="1"/>
          <p:nvPr/>
        </p:nvSpPr>
        <p:spPr>
          <a:xfrm>
            <a:off x="6780276" y="4083736"/>
            <a:ext cx="4494277" cy="338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700">
                <a:solidFill>
                  <a:srgbClr val="CA6F1E"/>
                </a:solidFill>
                <a:latin typeface="Arial"/>
                <a:ea typeface="Arial"/>
                <a:cs typeface="Arial"/>
                <a:sym typeface="Arial"/>
              </a:defRPr>
            </a:lvl1pPr>
          </a:lstStyle>
          <a:p>
            <a:pPr/>
            <a:r>
              <a:t>Is this allowed?</a:t>
            </a:r>
          </a:p>
        </p:txBody>
      </p:sp>
      <p:sp>
        <p:nvSpPr>
          <p:cNvPr id="300" name="TextBox 16"/>
          <p:cNvSpPr txBox="1"/>
          <p:nvPr/>
        </p:nvSpPr>
        <p:spPr>
          <a:xfrm>
            <a:off x="6780276" y="4506795"/>
            <a:ext cx="4494277" cy="7329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500">
                <a:solidFill>
                  <a:srgbClr val="2C3E50"/>
                </a:solidFill>
                <a:latin typeface="Arial"/>
                <a:ea typeface="Arial"/>
                <a:cs typeface="Arial"/>
                <a:sym typeface="Arial"/>
              </a:defRPr>
            </a:pPr>
            <a:r>
              <a:t>Yes. It reads the same public endpoint the website itself uses</a:t>
            </a:r>
            <a:r>
              <a:t> which we use for offline analysis on our local.</a:t>
            </a:r>
          </a:p>
        </p:txBody>
      </p:sp>
      <p:sp>
        <p:nvSpPr>
          <p:cNvPr id="301" name="Rectangle 17"/>
          <p:cNvSpPr/>
          <p:nvPr/>
        </p:nvSpPr>
        <p:spPr>
          <a:xfrm>
            <a:off x="0" y="6537959"/>
            <a:ext cx="12188825"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02" name="TextBox 18"/>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303" name="TextBox 19"/>
          <p:cNvSpPr txBox="1"/>
          <p:nvPr/>
        </p:nvSpPr>
        <p:spPr>
          <a:xfrm>
            <a:off x="10862944"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10 / 21</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08"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09"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10"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Approach 1 of 3:  The Model</a:t>
            </a:r>
          </a:p>
        </p:txBody>
      </p:sp>
      <p:sp>
        <p:nvSpPr>
          <p:cNvPr id="311"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Improving the forecast itself</a:t>
            </a:r>
          </a:p>
        </p:txBody>
      </p:sp>
      <p:sp>
        <p:nvSpPr>
          <p:cNvPr id="312"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13"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314"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11 / 21</a:t>
            </a:r>
          </a:p>
        </p:txBody>
      </p:sp>
      <p:sp>
        <p:nvSpPr>
          <p:cNvPr id="315" name="Rectangle 9"/>
          <p:cNvSpPr/>
          <p:nvPr/>
        </p:nvSpPr>
        <p:spPr>
          <a:xfrm>
            <a:off x="411479" y="1371600"/>
            <a:ext cx="11365994" cy="507492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16" name="TextBox 10"/>
          <p:cNvSpPr txBox="1"/>
          <p:nvPr/>
        </p:nvSpPr>
        <p:spPr>
          <a:xfrm>
            <a:off x="822959" y="1828800"/>
            <a:ext cx="2560322"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F4E79"/>
                </a:solidFill>
                <a:latin typeface="Arial"/>
                <a:ea typeface="Arial"/>
                <a:cs typeface="Arial"/>
                <a:sym typeface="Arial"/>
              </a:defRPr>
            </a:lvl1pPr>
          </a:lstStyle>
          <a:p>
            <a:pPr/>
            <a:r>
              <a:t>Fine-tuning</a:t>
            </a:r>
          </a:p>
        </p:txBody>
      </p:sp>
      <p:sp>
        <p:nvSpPr>
          <p:cNvPr id="317" name="TextBox 11"/>
          <p:cNvSpPr txBox="1"/>
          <p:nvPr/>
        </p:nvSpPr>
        <p:spPr>
          <a:xfrm>
            <a:off x="3474720" y="1847088"/>
            <a:ext cx="7891272" cy="338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C3E50"/>
                </a:solidFill>
                <a:latin typeface="Arial"/>
                <a:ea typeface="Arial"/>
                <a:cs typeface="Arial"/>
                <a:sym typeface="Arial"/>
              </a:defRPr>
            </a:lvl1pPr>
          </a:lstStyle>
          <a:p>
            <a:pPr/>
            <a:r>
              <a:t>continue training the given simulation model on our 81 real runs</a:t>
            </a:r>
          </a:p>
        </p:txBody>
      </p:sp>
      <p:sp>
        <p:nvSpPr>
          <p:cNvPr id="318" name="TextBox 12"/>
          <p:cNvSpPr txBox="1"/>
          <p:nvPr/>
        </p:nvSpPr>
        <p:spPr>
          <a:xfrm>
            <a:off x="822959" y="2615183"/>
            <a:ext cx="2560322"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F4E79"/>
                </a:solidFill>
                <a:latin typeface="Arial"/>
                <a:ea typeface="Arial"/>
                <a:cs typeface="Arial"/>
                <a:sym typeface="Arial"/>
              </a:defRPr>
            </a:lvl1pPr>
          </a:lstStyle>
          <a:p>
            <a:pPr/>
            <a:r>
              <a:t>Model soup</a:t>
            </a:r>
          </a:p>
        </p:txBody>
      </p:sp>
      <p:sp>
        <p:nvSpPr>
          <p:cNvPr id="319" name="TextBox 13"/>
          <p:cNvSpPr txBox="1"/>
          <p:nvPr/>
        </p:nvSpPr>
        <p:spPr>
          <a:xfrm>
            <a:off x="3474720" y="2633472"/>
            <a:ext cx="7891272" cy="338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C3E50"/>
                </a:solidFill>
                <a:latin typeface="Arial"/>
                <a:ea typeface="Arial"/>
                <a:cs typeface="Arial"/>
                <a:sym typeface="Arial"/>
              </a:defRPr>
            </a:lvl1pPr>
          </a:lstStyle>
          <a:p>
            <a:pPr/>
            <a:r>
              <a:t>train several times, then average the weights</a:t>
            </a:r>
          </a:p>
        </p:txBody>
      </p:sp>
      <p:sp>
        <p:nvSpPr>
          <p:cNvPr id="320" name="TextBox 14"/>
          <p:cNvSpPr txBox="1"/>
          <p:nvPr/>
        </p:nvSpPr>
        <p:spPr>
          <a:xfrm>
            <a:off x="822959" y="3401567"/>
            <a:ext cx="2560322"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F4E79"/>
                </a:solidFill>
                <a:latin typeface="Arial"/>
                <a:ea typeface="Arial"/>
                <a:cs typeface="Arial"/>
                <a:sym typeface="Arial"/>
              </a:defRPr>
            </a:lvl1pPr>
          </a:lstStyle>
          <a:p>
            <a:pPr/>
            <a:r>
              <a:t>Ensembling</a:t>
            </a:r>
          </a:p>
        </p:txBody>
      </p:sp>
      <p:sp>
        <p:nvSpPr>
          <p:cNvPr id="321" name="TextBox 15"/>
          <p:cNvSpPr txBox="1"/>
          <p:nvPr/>
        </p:nvSpPr>
        <p:spPr>
          <a:xfrm>
            <a:off x="3474720" y="3419855"/>
            <a:ext cx="7891272"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C3E50"/>
                </a:solidFill>
                <a:latin typeface="Arial"/>
                <a:ea typeface="Arial"/>
                <a:cs typeface="Arial"/>
                <a:sym typeface="Arial"/>
              </a:defRPr>
            </a:lvl1pPr>
          </a:lstStyle>
          <a:p>
            <a:pPr/>
            <a:r>
              <a:t>run several models, average the answers, provide an offset if needed</a:t>
            </a:r>
          </a:p>
        </p:txBody>
      </p:sp>
      <p:sp>
        <p:nvSpPr>
          <p:cNvPr id="322" name="TextBox 16"/>
          <p:cNvSpPr txBox="1"/>
          <p:nvPr/>
        </p:nvSpPr>
        <p:spPr>
          <a:xfrm>
            <a:off x="822959" y="4187952"/>
            <a:ext cx="2560322"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F4E79"/>
                </a:solidFill>
                <a:latin typeface="Arial"/>
                <a:ea typeface="Arial"/>
                <a:cs typeface="Arial"/>
                <a:sym typeface="Arial"/>
              </a:defRPr>
            </a:lvl1pPr>
          </a:lstStyle>
          <a:p>
            <a:pPr/>
            <a:r>
              <a:t>TKE head</a:t>
            </a:r>
          </a:p>
        </p:txBody>
      </p:sp>
      <p:sp>
        <p:nvSpPr>
          <p:cNvPr id="323" name="TextBox 17"/>
          <p:cNvSpPr txBox="1"/>
          <p:nvPr/>
        </p:nvSpPr>
        <p:spPr>
          <a:xfrm>
            <a:off x="3474720" y="4206240"/>
            <a:ext cx="7891272"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C3E50"/>
                </a:solidFill>
                <a:latin typeface="Arial"/>
                <a:ea typeface="Arial"/>
                <a:cs typeface="Arial"/>
                <a:sym typeface="Arial"/>
              </a:defRPr>
            </a:lvl1pPr>
          </a:lstStyle>
          <a:p>
            <a:pPr/>
            <a:r>
              <a:t>a second network that rescales the predicted fluctuations</a:t>
            </a:r>
          </a:p>
        </p:txBody>
      </p:sp>
      <p:sp>
        <p:nvSpPr>
          <p:cNvPr id="324" name="Rectangle 18"/>
          <p:cNvSpPr/>
          <p:nvPr/>
        </p:nvSpPr>
        <p:spPr>
          <a:xfrm>
            <a:off x="777240" y="5202935"/>
            <a:ext cx="10634472" cy="1051561"/>
          </a:xfrm>
          <a:prstGeom prst="rect">
            <a:avLst/>
          </a:prstGeom>
          <a:solidFill>
            <a:srgbClr val="F4F6F9"/>
          </a:solidFill>
          <a:ln w="20320">
            <a:solidFill>
              <a:srgbClr val="CA6F1E"/>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25" name="TextBox 19"/>
          <p:cNvSpPr txBox="1"/>
          <p:nvPr/>
        </p:nvSpPr>
        <p:spPr>
          <a:xfrm>
            <a:off x="1097280" y="5477255"/>
            <a:ext cx="9994392"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000">
                <a:solidFill>
                  <a:srgbClr val="CA6F1E"/>
                </a:solidFill>
                <a:latin typeface="Arial"/>
                <a:ea typeface="Arial"/>
                <a:cs typeface="Arial"/>
                <a:sym typeface="Arial"/>
              </a:defRPr>
            </a:lvl1pPr>
          </a:lstStyle>
          <a:p>
            <a:pPr/>
            <a:r>
              <a:t>Six weeks of this made the model better on unseen Reynolds numbers.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0"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1"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2"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Approach 2 of 3:  Uncertainty</a:t>
            </a:r>
          </a:p>
        </p:txBody>
      </p:sp>
      <p:sp>
        <p:nvSpPr>
          <p:cNvPr id="333"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24.7% of the score, and free of the accuracy channels</a:t>
            </a:r>
          </a:p>
        </p:txBody>
      </p:sp>
      <p:sp>
        <p:nvSpPr>
          <p:cNvPr id="334"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5"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336"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12 / 21</a:t>
            </a:r>
          </a:p>
        </p:txBody>
      </p:sp>
      <p:sp>
        <p:nvSpPr>
          <p:cNvPr id="337" name="Rectangle 9"/>
          <p:cNvSpPr/>
          <p:nvPr/>
        </p:nvSpPr>
        <p:spPr>
          <a:xfrm>
            <a:off x="411479" y="1384300"/>
            <a:ext cx="11365994" cy="2286000"/>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8" name="TextBox 10"/>
          <p:cNvSpPr txBox="1"/>
          <p:nvPr/>
        </p:nvSpPr>
        <p:spPr>
          <a:xfrm>
            <a:off x="685799" y="1508760"/>
            <a:ext cx="10817353"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A2E4A"/>
                </a:solidFill>
                <a:latin typeface="Arial"/>
                <a:ea typeface="Arial"/>
                <a:cs typeface="Arial"/>
                <a:sym typeface="Arial"/>
              </a:defRPr>
            </a:lvl1pPr>
          </a:lstStyle>
          <a:p>
            <a:pPr/>
            <a:r>
              <a:t>How our bounds are produced</a:t>
            </a:r>
          </a:p>
        </p:txBody>
      </p:sp>
      <p:sp>
        <p:nvSpPr>
          <p:cNvPr id="339" name="TextBox 11"/>
          <p:cNvSpPr txBox="1"/>
          <p:nvPr/>
        </p:nvSpPr>
        <p:spPr>
          <a:xfrm>
            <a:off x="822960" y="2057400"/>
            <a:ext cx="365761"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2E86C1"/>
                </a:solidFill>
                <a:latin typeface="Arial"/>
                <a:ea typeface="Arial"/>
                <a:cs typeface="Arial"/>
                <a:sym typeface="Arial"/>
              </a:defRPr>
            </a:lvl1pPr>
          </a:lstStyle>
          <a:p>
            <a:pPr/>
            <a:r>
              <a:t>1</a:t>
            </a:r>
          </a:p>
        </p:txBody>
      </p:sp>
      <p:sp>
        <p:nvSpPr>
          <p:cNvPr id="340" name="TextBox 12"/>
          <p:cNvSpPr txBox="1"/>
          <p:nvPr/>
        </p:nvSpPr>
        <p:spPr>
          <a:xfrm>
            <a:off x="1371600" y="2103120"/>
            <a:ext cx="2721865" cy="7705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C3E50"/>
                </a:solidFill>
                <a:latin typeface="Arial"/>
                <a:ea typeface="Arial"/>
                <a:cs typeface="Arial"/>
                <a:sym typeface="Arial"/>
              </a:defRPr>
            </a:lvl1pPr>
          </a:lstStyle>
          <a:p>
            <a:pPr/>
            <a:r>
              <a:t>a network predicts how wrong the forecast will be, per point</a:t>
            </a:r>
          </a:p>
        </p:txBody>
      </p:sp>
      <p:sp>
        <p:nvSpPr>
          <p:cNvPr id="341" name="TextBox 13"/>
          <p:cNvSpPr txBox="1"/>
          <p:nvPr/>
        </p:nvSpPr>
        <p:spPr>
          <a:xfrm>
            <a:off x="4367784" y="2057400"/>
            <a:ext cx="365761"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2E86C1"/>
                </a:solidFill>
                <a:latin typeface="Arial"/>
                <a:ea typeface="Arial"/>
                <a:cs typeface="Arial"/>
                <a:sym typeface="Arial"/>
              </a:defRPr>
            </a:lvl1pPr>
          </a:lstStyle>
          <a:p>
            <a:pPr/>
            <a:r>
              <a:t>2</a:t>
            </a:r>
          </a:p>
        </p:txBody>
      </p:sp>
      <p:sp>
        <p:nvSpPr>
          <p:cNvPr id="342" name="TextBox 14"/>
          <p:cNvSpPr txBox="1"/>
          <p:nvPr/>
        </p:nvSpPr>
        <p:spPr>
          <a:xfrm>
            <a:off x="4916423" y="2103120"/>
            <a:ext cx="2721866" cy="5419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solidFill>
                  <a:srgbClr val="2C3E50"/>
                </a:solidFill>
                <a:latin typeface="Arial"/>
                <a:ea typeface="Arial"/>
                <a:cs typeface="Arial"/>
                <a:sym typeface="Arial"/>
              </a:defRPr>
            </a:pPr>
            <a:r>
              <a:t>that is sorted into 24 bins;</a:t>
            </a:r>
            <a:br/>
            <a:r>
              <a:t>a table gives each a width</a:t>
            </a:r>
          </a:p>
        </p:txBody>
      </p:sp>
      <p:sp>
        <p:nvSpPr>
          <p:cNvPr id="343" name="TextBox 15"/>
          <p:cNvSpPr txBox="1"/>
          <p:nvPr/>
        </p:nvSpPr>
        <p:spPr>
          <a:xfrm>
            <a:off x="7912607" y="2057400"/>
            <a:ext cx="365761"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2E86C1"/>
                </a:solidFill>
                <a:latin typeface="Arial"/>
                <a:ea typeface="Arial"/>
                <a:cs typeface="Arial"/>
                <a:sym typeface="Arial"/>
              </a:defRPr>
            </a:lvl1pPr>
          </a:lstStyle>
          <a:p>
            <a:pPr/>
            <a:r>
              <a:t>3</a:t>
            </a:r>
          </a:p>
        </p:txBody>
      </p:sp>
      <p:sp>
        <p:nvSpPr>
          <p:cNvPr id="344" name="TextBox 16"/>
          <p:cNvSpPr txBox="1"/>
          <p:nvPr/>
        </p:nvSpPr>
        <p:spPr>
          <a:xfrm>
            <a:off x="8461247" y="2103120"/>
            <a:ext cx="2721865" cy="7705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solidFill>
                  <a:srgbClr val="2C3E50"/>
                </a:solidFill>
                <a:latin typeface="Arial"/>
                <a:ea typeface="Arial"/>
                <a:cs typeface="Arial"/>
                <a:sym typeface="Arial"/>
              </a:defRPr>
            </a:pPr>
            <a:r>
              <a:t>a third network </a:t>
            </a:r>
            <a:r>
              <a:t>re-centers</a:t>
            </a:r>
            <a:br/>
            <a:r>
              <a:t>the interval where it covers best</a:t>
            </a:r>
          </a:p>
        </p:txBody>
      </p:sp>
      <p:sp>
        <p:nvSpPr>
          <p:cNvPr id="345" name="Rectangle 17"/>
          <p:cNvSpPr/>
          <p:nvPr/>
        </p:nvSpPr>
        <p:spPr>
          <a:xfrm>
            <a:off x="411479" y="3840479"/>
            <a:ext cx="11365994" cy="1005840"/>
          </a:xfrm>
          <a:prstGeom prst="rect">
            <a:avLst/>
          </a:prstGeom>
          <a:solidFill>
            <a:srgbClr val="FFFFFF"/>
          </a:solidFill>
          <a:ln w="25400">
            <a:solidFill>
              <a:srgbClr val="1E8B4C"/>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46" name="TextBox 18"/>
          <p:cNvSpPr txBox="1"/>
          <p:nvPr/>
        </p:nvSpPr>
        <p:spPr>
          <a:xfrm>
            <a:off x="822960" y="4114800"/>
            <a:ext cx="10543032" cy="6173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a:solidFill>
                  <a:srgbClr val="1E8B4C"/>
                </a:solidFill>
                <a:latin typeface="Arial"/>
                <a:ea typeface="Arial"/>
                <a:cs typeface="Arial"/>
                <a:sym typeface="Arial"/>
              </a:defRPr>
            </a:pPr>
            <a:r>
              <a:t>Only the bounds move</a:t>
            </a:r>
            <a:r>
              <a:t>,</a:t>
            </a:r>
            <a:r>
              <a:t> so the forecast stays byte-identical and the accuracy channels provably cannot change.</a:t>
            </a:r>
          </a:p>
        </p:txBody>
      </p:sp>
      <p:sp>
        <p:nvSpPr>
          <p:cNvPr id="347" name="Rectangle 19"/>
          <p:cNvSpPr/>
          <p:nvPr/>
        </p:nvSpPr>
        <p:spPr>
          <a:xfrm>
            <a:off x="411479" y="4983479"/>
            <a:ext cx="11365994" cy="146304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48" name="TextBox 20"/>
          <p:cNvSpPr txBox="1"/>
          <p:nvPr/>
        </p:nvSpPr>
        <p:spPr>
          <a:xfrm>
            <a:off x="685799" y="5120640"/>
            <a:ext cx="10817353"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A2E4A"/>
                </a:solidFill>
                <a:latin typeface="Arial"/>
                <a:ea typeface="Arial"/>
                <a:cs typeface="Arial"/>
                <a:sym typeface="Arial"/>
              </a:defRPr>
            </a:lvl1pPr>
          </a:lstStyle>
          <a:p>
            <a:pPr/>
            <a:r>
              <a:t>Why this became the focus</a:t>
            </a:r>
          </a:p>
        </p:txBody>
      </p:sp>
      <p:sp>
        <p:nvSpPr>
          <p:cNvPr id="349" name="TextBox 21"/>
          <p:cNvSpPr txBox="1"/>
          <p:nvPr/>
        </p:nvSpPr>
        <p:spPr>
          <a:xfrm>
            <a:off x="822960" y="5486400"/>
            <a:ext cx="10543032" cy="5419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solidFill>
                  <a:srgbClr val="2C3E50"/>
                </a:solidFill>
                <a:latin typeface="Arial"/>
                <a:ea typeface="Arial"/>
                <a:cs typeface="Arial"/>
                <a:sym typeface="Arial"/>
              </a:defRPr>
            </a:pPr>
            <a:r>
              <a:t>Uncertainty explained ~68% of our gap to first place.  One rival matched our accuracy to three decimals and still scored 0.58 higher </a:t>
            </a:r>
            <a:r>
              <a:t>implies </a:t>
            </a:r>
            <a:r>
              <a:t>the channels are independent.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Rectangle 1"/>
          <p:cNvSpPr/>
          <p:nvPr/>
        </p:nvSpPr>
        <p:spPr>
          <a:xfrm>
            <a:off x="0" y="0"/>
            <a:ext cx="12188825"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54" name="Rectangle 2"/>
          <p:cNvSpPr/>
          <p:nvPr/>
        </p:nvSpPr>
        <p:spPr>
          <a:xfrm>
            <a:off x="0" y="-1"/>
            <a:ext cx="12188825"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55" name="Rectangle 3"/>
          <p:cNvSpPr/>
          <p:nvPr/>
        </p:nvSpPr>
        <p:spPr>
          <a:xfrm>
            <a:off x="0" y="1051560"/>
            <a:ext cx="12188825"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56" name="TextBox 4"/>
          <p:cNvSpPr txBox="1"/>
          <p:nvPr/>
        </p:nvSpPr>
        <p:spPr>
          <a:xfrm>
            <a:off x="502919" y="164592"/>
            <a:ext cx="11182986"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Approach 3 of 3:  Speed</a:t>
            </a:r>
          </a:p>
        </p:txBody>
      </p:sp>
      <p:sp>
        <p:nvSpPr>
          <p:cNvPr id="357" name="TextBox 5"/>
          <p:cNvSpPr txBox="1"/>
          <p:nvPr/>
        </p:nvSpPr>
        <p:spPr>
          <a:xfrm>
            <a:off x="521207" y="658368"/>
            <a:ext cx="11182986"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Why runtime is scored at all, and how much it was worth</a:t>
            </a:r>
          </a:p>
        </p:txBody>
      </p:sp>
      <p:sp>
        <p:nvSpPr>
          <p:cNvPr id="358" name="Rectangle 6"/>
          <p:cNvSpPr/>
          <p:nvPr/>
        </p:nvSpPr>
        <p:spPr>
          <a:xfrm>
            <a:off x="411479" y="1371600"/>
            <a:ext cx="11365994" cy="3200400"/>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pic>
        <p:nvPicPr>
          <p:cNvPr id="359" name="Picture 7" descr="Picture 7"/>
          <p:cNvPicPr>
            <a:picLocks noChangeAspect="1"/>
          </p:cNvPicPr>
          <p:nvPr/>
        </p:nvPicPr>
        <p:blipFill>
          <a:blip r:embed="rId3">
            <a:extLst/>
          </a:blip>
          <a:stretch>
            <a:fillRect/>
          </a:stretch>
        </p:blipFill>
        <p:spPr>
          <a:xfrm>
            <a:off x="2351815" y="1508760"/>
            <a:ext cx="7485321" cy="2926080"/>
          </a:xfrm>
          <a:prstGeom prst="rect">
            <a:avLst/>
          </a:prstGeom>
          <a:ln w="12700">
            <a:miter lim="400000"/>
          </a:ln>
        </p:spPr>
      </p:pic>
      <p:sp>
        <p:nvSpPr>
          <p:cNvPr id="360" name="Rectangle 8"/>
          <p:cNvSpPr/>
          <p:nvPr/>
        </p:nvSpPr>
        <p:spPr>
          <a:xfrm>
            <a:off x="411480" y="4709159"/>
            <a:ext cx="5545836" cy="17373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61" name="TextBox 9"/>
          <p:cNvSpPr txBox="1"/>
          <p:nvPr/>
        </p:nvSpPr>
        <p:spPr>
          <a:xfrm>
            <a:off x="685800" y="4846320"/>
            <a:ext cx="4997196"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A2E4A"/>
                </a:solidFill>
                <a:latin typeface="Arial"/>
                <a:ea typeface="Arial"/>
                <a:cs typeface="Arial"/>
                <a:sym typeface="Arial"/>
              </a:defRPr>
            </a:lvl1pPr>
          </a:lstStyle>
          <a:p>
            <a:pPr/>
            <a:r>
              <a:t>What we did</a:t>
            </a:r>
          </a:p>
        </p:txBody>
      </p:sp>
      <p:sp>
        <p:nvSpPr>
          <p:cNvPr id="362" name="TextBox 10"/>
          <p:cNvSpPr txBox="1"/>
          <p:nvPr/>
        </p:nvSpPr>
        <p:spPr>
          <a:xfrm>
            <a:off x="731519" y="5212079"/>
            <a:ext cx="4905757" cy="9361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800"/>
              </a:spcBef>
              <a:defRPr sz="1500">
                <a:solidFill>
                  <a:srgbClr val="2C3E50"/>
                </a:solidFill>
                <a:latin typeface="Arial"/>
                <a:ea typeface="Arial"/>
                <a:cs typeface="Arial"/>
                <a:sym typeface="Arial"/>
              </a:defRPr>
            </a:pPr>
            <a:r>
              <a:t>•  Moved per-point work off the CPU onto the GPU.</a:t>
            </a:r>
          </a:p>
          <a:p>
            <a:pPr>
              <a:spcBef>
                <a:spcPts val="800"/>
              </a:spcBef>
              <a:defRPr sz="1500">
                <a:solidFill>
                  <a:srgbClr val="2C3E50"/>
                </a:solidFill>
                <a:latin typeface="Arial"/>
                <a:ea typeface="Arial"/>
                <a:cs typeface="Arial"/>
                <a:sym typeface="Arial"/>
              </a:defRPr>
            </a:pPr>
            <a:r>
              <a:t>•  Merged three small networks into one.</a:t>
            </a:r>
          </a:p>
          <a:p>
            <a:pPr>
              <a:spcBef>
                <a:spcPts val="800"/>
              </a:spcBef>
              <a:defRPr sz="1500">
                <a:solidFill>
                  <a:srgbClr val="2C3E50"/>
                </a:solidFill>
                <a:latin typeface="Arial"/>
                <a:ea typeface="Arial"/>
                <a:cs typeface="Arial"/>
                <a:sym typeface="Arial"/>
              </a:defRPr>
            </a:pPr>
            <a:r>
              <a:t>•  Stored weights at half precision.</a:t>
            </a:r>
          </a:p>
        </p:txBody>
      </p:sp>
      <p:sp>
        <p:nvSpPr>
          <p:cNvPr id="363" name="Rectangle 11"/>
          <p:cNvSpPr/>
          <p:nvPr/>
        </p:nvSpPr>
        <p:spPr>
          <a:xfrm>
            <a:off x="6231635" y="4709159"/>
            <a:ext cx="5545837" cy="17373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64" name="TextBox 12"/>
          <p:cNvSpPr txBox="1"/>
          <p:nvPr/>
        </p:nvSpPr>
        <p:spPr>
          <a:xfrm>
            <a:off x="6505955" y="4846320"/>
            <a:ext cx="4997197"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CA6F1E"/>
                </a:solidFill>
                <a:latin typeface="Arial"/>
                <a:ea typeface="Arial"/>
                <a:cs typeface="Arial"/>
                <a:sym typeface="Arial"/>
              </a:defRPr>
            </a:lvl1pPr>
          </a:lstStyle>
          <a:p>
            <a:pPr/>
            <a:r>
              <a:t>Why we stopped</a:t>
            </a:r>
          </a:p>
        </p:txBody>
      </p:sp>
      <p:sp>
        <p:nvSpPr>
          <p:cNvPr id="365" name="TextBox 13"/>
          <p:cNvSpPr txBox="1"/>
          <p:nvPr/>
        </p:nvSpPr>
        <p:spPr>
          <a:xfrm>
            <a:off x="6551676" y="5212079"/>
            <a:ext cx="4905757" cy="7329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2C3E50"/>
                </a:solidFill>
                <a:latin typeface="Arial"/>
                <a:ea typeface="Arial"/>
                <a:cs typeface="Arial"/>
                <a:sym typeface="Arial"/>
              </a:defRPr>
            </a:lvl1pPr>
          </a:lstStyle>
          <a:p>
            <a:pPr/>
            <a:r>
              <a:t>We are already on the flat part of the curve. Going from 7.8 s to 4 s would gain only +0.25 of a point and the one change big enough to matter destroyed accuracy.</a:t>
            </a:r>
          </a:p>
        </p:txBody>
      </p:sp>
      <p:sp>
        <p:nvSpPr>
          <p:cNvPr id="366" name="Rectangle 14"/>
          <p:cNvSpPr/>
          <p:nvPr/>
        </p:nvSpPr>
        <p:spPr>
          <a:xfrm>
            <a:off x="0" y="6537959"/>
            <a:ext cx="12188825"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67" name="TextBox 15"/>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368" name="TextBox 16"/>
          <p:cNvSpPr txBox="1"/>
          <p:nvPr/>
        </p:nvSpPr>
        <p:spPr>
          <a:xfrm>
            <a:off x="10862944"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13 / 21</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Rectangle 1"/>
          <p:cNvSpPr/>
          <p:nvPr/>
        </p:nvSpPr>
        <p:spPr>
          <a:xfrm>
            <a:off x="0" y="0"/>
            <a:ext cx="12188825"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73" name="Rectangle 2"/>
          <p:cNvSpPr/>
          <p:nvPr/>
        </p:nvSpPr>
        <p:spPr>
          <a:xfrm>
            <a:off x="0" y="-1"/>
            <a:ext cx="12188825"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74" name="Rectangle 3"/>
          <p:cNvSpPr/>
          <p:nvPr/>
        </p:nvSpPr>
        <p:spPr>
          <a:xfrm>
            <a:off x="0" y="1051560"/>
            <a:ext cx="12188825"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75" name="TextBox 4"/>
          <p:cNvSpPr txBox="1"/>
          <p:nvPr/>
        </p:nvSpPr>
        <p:spPr>
          <a:xfrm>
            <a:off x="502919" y="164592"/>
            <a:ext cx="11182986"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Inside Each Submission</a:t>
            </a:r>
          </a:p>
        </p:txBody>
      </p:sp>
      <p:sp>
        <p:nvSpPr>
          <p:cNvPr id="376" name="TextBox 5"/>
          <p:cNvSpPr txBox="1"/>
          <p:nvPr/>
        </p:nvSpPr>
        <p:spPr>
          <a:xfrm>
            <a:off x="521207" y="658368"/>
            <a:ext cx="11182986"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What actually changed, and what it was worth</a:t>
            </a:r>
          </a:p>
        </p:txBody>
      </p:sp>
      <p:sp>
        <p:nvSpPr>
          <p:cNvPr id="377" name="Rectangle 6"/>
          <p:cNvSpPr/>
          <p:nvPr/>
        </p:nvSpPr>
        <p:spPr>
          <a:xfrm>
            <a:off x="435413" y="1371600"/>
            <a:ext cx="11653213" cy="507492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78" name="TextBox 7"/>
          <p:cNvSpPr txBox="1"/>
          <p:nvPr/>
        </p:nvSpPr>
        <p:spPr>
          <a:xfrm>
            <a:off x="777239" y="1664207"/>
            <a:ext cx="219456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2E86C1"/>
                </a:solidFill>
                <a:latin typeface="Arial"/>
                <a:ea typeface="Arial"/>
                <a:cs typeface="Arial"/>
                <a:sym typeface="Arial"/>
              </a:defRPr>
            </a:lvl1pPr>
          </a:lstStyle>
          <a:p>
            <a:pPr/>
            <a:r>
              <a:t>submission</a:t>
            </a:r>
          </a:p>
        </p:txBody>
      </p:sp>
      <p:sp>
        <p:nvSpPr>
          <p:cNvPr id="379" name="TextBox 8"/>
          <p:cNvSpPr txBox="1"/>
          <p:nvPr/>
        </p:nvSpPr>
        <p:spPr>
          <a:xfrm>
            <a:off x="3200399" y="1664207"/>
            <a:ext cx="576072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2E86C1"/>
                </a:solidFill>
                <a:latin typeface="Arial"/>
                <a:ea typeface="Arial"/>
                <a:cs typeface="Arial"/>
                <a:sym typeface="Arial"/>
              </a:defRPr>
            </a:lvl1pPr>
          </a:lstStyle>
          <a:p>
            <a:pPr/>
            <a:r>
              <a:t>what changed</a:t>
            </a:r>
          </a:p>
        </p:txBody>
      </p:sp>
      <p:sp>
        <p:nvSpPr>
          <p:cNvPr id="380" name="TextBox 9"/>
          <p:cNvSpPr txBox="1"/>
          <p:nvPr/>
        </p:nvSpPr>
        <p:spPr>
          <a:xfrm>
            <a:off x="9144000" y="1664207"/>
            <a:ext cx="173736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2E86C1"/>
                </a:solidFill>
                <a:latin typeface="Arial"/>
                <a:ea typeface="Arial"/>
                <a:cs typeface="Arial"/>
                <a:sym typeface="Arial"/>
              </a:defRPr>
            </a:lvl1pPr>
          </a:lstStyle>
          <a:p>
            <a:pPr/>
            <a:r>
              <a:t>model underneath</a:t>
            </a:r>
          </a:p>
        </p:txBody>
      </p:sp>
      <p:sp>
        <p:nvSpPr>
          <p:cNvPr id="381" name="TextBox 10"/>
          <p:cNvSpPr txBox="1"/>
          <p:nvPr/>
        </p:nvSpPr>
        <p:spPr>
          <a:xfrm>
            <a:off x="11064239" y="1664207"/>
            <a:ext cx="77724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2E86C1"/>
                </a:solidFill>
                <a:latin typeface="Arial"/>
                <a:ea typeface="Arial"/>
                <a:cs typeface="Arial"/>
                <a:sym typeface="Arial"/>
              </a:defRPr>
            </a:lvl1pPr>
          </a:lstStyle>
          <a:p>
            <a:pPr/>
            <a:r>
              <a:t>score</a:t>
            </a:r>
          </a:p>
        </p:txBody>
      </p:sp>
      <p:sp>
        <p:nvSpPr>
          <p:cNvPr id="382" name="TextBox 11"/>
          <p:cNvSpPr txBox="1"/>
          <p:nvPr/>
        </p:nvSpPr>
        <p:spPr>
          <a:xfrm>
            <a:off x="777239" y="2048255"/>
            <a:ext cx="219456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1F4E79"/>
                </a:solidFill>
                <a:latin typeface="Arial"/>
                <a:ea typeface="Arial"/>
                <a:cs typeface="Arial"/>
                <a:sym typeface="Arial"/>
              </a:defRPr>
            </a:lvl1pPr>
          </a:lstStyle>
          <a:p>
            <a:pPr/>
            <a:r>
              <a:t>SOUP_v1</a:t>
            </a:r>
          </a:p>
        </p:txBody>
      </p:sp>
      <p:sp>
        <p:nvSpPr>
          <p:cNvPr id="383" name="TextBox 12"/>
          <p:cNvSpPr txBox="1"/>
          <p:nvPr/>
        </p:nvSpPr>
        <p:spPr>
          <a:xfrm>
            <a:off x="3200399" y="2048255"/>
            <a:ext cx="576072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fine-tune on real data, then average several runs' weights</a:t>
            </a:r>
          </a:p>
        </p:txBody>
      </p:sp>
      <p:sp>
        <p:nvSpPr>
          <p:cNvPr id="384" name="TextBox 13"/>
          <p:cNvSpPr txBox="1"/>
          <p:nvPr/>
        </p:nvSpPr>
        <p:spPr>
          <a:xfrm>
            <a:off x="9144000" y="2048255"/>
            <a:ext cx="173736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FNO soup</a:t>
            </a:r>
          </a:p>
        </p:txBody>
      </p:sp>
      <p:sp>
        <p:nvSpPr>
          <p:cNvPr id="385" name="TextBox 14"/>
          <p:cNvSpPr txBox="1"/>
          <p:nvPr/>
        </p:nvSpPr>
        <p:spPr>
          <a:xfrm>
            <a:off x="11064239" y="2048255"/>
            <a:ext cx="77724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2C3E50"/>
                </a:solidFill>
                <a:latin typeface="Arial"/>
                <a:ea typeface="Arial"/>
                <a:cs typeface="Arial"/>
                <a:sym typeface="Arial"/>
              </a:defRPr>
            </a:lvl1pPr>
          </a:lstStyle>
          <a:p>
            <a:pPr/>
            <a:r>
              <a:t>78.45</a:t>
            </a:r>
          </a:p>
        </p:txBody>
      </p:sp>
      <p:sp>
        <p:nvSpPr>
          <p:cNvPr id="386" name="TextBox 15"/>
          <p:cNvSpPr txBox="1"/>
          <p:nvPr/>
        </p:nvSpPr>
        <p:spPr>
          <a:xfrm>
            <a:off x="777239" y="2450592"/>
            <a:ext cx="219456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CA6F1E"/>
                </a:solidFill>
                <a:latin typeface="Arial"/>
                <a:ea typeface="Arial"/>
                <a:cs typeface="Arial"/>
                <a:sym typeface="Arial"/>
              </a:defRPr>
            </a:lvl1pPr>
          </a:lstStyle>
          <a:p>
            <a:pPr/>
            <a:r>
              <a:t>SHIFT_v2</a:t>
            </a:r>
          </a:p>
        </p:txBody>
      </p:sp>
      <p:sp>
        <p:nvSpPr>
          <p:cNvPr id="387" name="TextBox 16"/>
          <p:cNvSpPr txBox="1"/>
          <p:nvPr/>
        </p:nvSpPr>
        <p:spPr>
          <a:xfrm>
            <a:off x="3200399" y="2450592"/>
            <a:ext cx="576072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200">
                <a:solidFill>
                  <a:srgbClr val="1A2E4A"/>
                </a:solidFill>
                <a:latin typeface="Arial"/>
                <a:ea typeface="Arial"/>
                <a:cs typeface="Arial"/>
                <a:sym typeface="Arial"/>
              </a:defRPr>
            </a:lvl1pPr>
          </a:lstStyle>
          <a:p>
            <a:pPr/>
            <a:r>
              <a:t>ADDED UNCERTAINTY: U-Net + 24-bin width table + off-centre intervals</a:t>
            </a:r>
          </a:p>
        </p:txBody>
      </p:sp>
      <p:sp>
        <p:nvSpPr>
          <p:cNvPr id="388" name="TextBox 17"/>
          <p:cNvSpPr txBox="1"/>
          <p:nvPr/>
        </p:nvSpPr>
        <p:spPr>
          <a:xfrm>
            <a:off x="9144000" y="2450592"/>
            <a:ext cx="17373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 W96 U-Net</a:t>
            </a:r>
          </a:p>
        </p:txBody>
      </p:sp>
      <p:sp>
        <p:nvSpPr>
          <p:cNvPr id="389" name="TextBox 18"/>
          <p:cNvSpPr txBox="1"/>
          <p:nvPr/>
        </p:nvSpPr>
        <p:spPr>
          <a:xfrm>
            <a:off x="11064239" y="2450592"/>
            <a:ext cx="77724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1E8B4C"/>
                </a:solidFill>
                <a:latin typeface="Arial"/>
                <a:ea typeface="Arial"/>
                <a:cs typeface="Arial"/>
                <a:sym typeface="Arial"/>
              </a:defRPr>
            </a:lvl1pPr>
          </a:lstStyle>
          <a:p>
            <a:pPr/>
            <a:r>
              <a:t>79.25</a:t>
            </a:r>
          </a:p>
        </p:txBody>
      </p:sp>
      <p:sp>
        <p:nvSpPr>
          <p:cNvPr id="390" name="TextBox 19"/>
          <p:cNvSpPr txBox="1"/>
          <p:nvPr/>
        </p:nvSpPr>
        <p:spPr>
          <a:xfrm>
            <a:off x="777239" y="2852927"/>
            <a:ext cx="219456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1F4E79"/>
                </a:solidFill>
                <a:latin typeface="Arial"/>
                <a:ea typeface="Arial"/>
                <a:cs typeface="Arial"/>
                <a:sym typeface="Arial"/>
              </a:defRPr>
            </a:lvl1pPr>
          </a:lstStyle>
          <a:p>
            <a:pPr/>
            <a:r>
              <a:t>TMEAN</a:t>
            </a:r>
          </a:p>
        </p:txBody>
      </p:sp>
      <p:sp>
        <p:nvSpPr>
          <p:cNvPr id="391" name="TextBox 20"/>
          <p:cNvSpPr txBox="1"/>
          <p:nvPr/>
        </p:nvSpPr>
        <p:spPr>
          <a:xfrm>
            <a:off x="3200399" y="2852927"/>
            <a:ext cx="576072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correct a constant offset in the time-mean</a:t>
            </a:r>
          </a:p>
        </p:txBody>
      </p:sp>
      <p:sp>
        <p:nvSpPr>
          <p:cNvPr id="392" name="TextBox 21"/>
          <p:cNvSpPr txBox="1"/>
          <p:nvPr/>
        </p:nvSpPr>
        <p:spPr>
          <a:xfrm>
            <a:off x="9144000" y="2852927"/>
            <a:ext cx="173736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same</a:t>
            </a:r>
          </a:p>
        </p:txBody>
      </p:sp>
      <p:sp>
        <p:nvSpPr>
          <p:cNvPr id="393" name="TextBox 22"/>
          <p:cNvSpPr txBox="1"/>
          <p:nvPr/>
        </p:nvSpPr>
        <p:spPr>
          <a:xfrm>
            <a:off x="11064239" y="2852927"/>
            <a:ext cx="77724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2C3E50"/>
                </a:solidFill>
                <a:latin typeface="Arial"/>
                <a:ea typeface="Arial"/>
                <a:cs typeface="Arial"/>
                <a:sym typeface="Arial"/>
              </a:defRPr>
            </a:lvl1pPr>
          </a:lstStyle>
          <a:p>
            <a:pPr/>
            <a:r>
              <a:t>79.37</a:t>
            </a:r>
          </a:p>
        </p:txBody>
      </p:sp>
      <p:sp>
        <p:nvSpPr>
          <p:cNvPr id="394" name="TextBox 23"/>
          <p:cNvSpPr txBox="1"/>
          <p:nvPr/>
        </p:nvSpPr>
        <p:spPr>
          <a:xfrm>
            <a:off x="777239" y="3255264"/>
            <a:ext cx="219456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1F4E79"/>
                </a:solidFill>
                <a:latin typeface="Arial"/>
                <a:ea typeface="Arial"/>
                <a:cs typeface="Arial"/>
                <a:sym typeface="Arial"/>
              </a:defRPr>
            </a:lvl1pPr>
          </a:lstStyle>
          <a:p>
            <a:pPr/>
            <a:r>
              <a:t>SV2</a:t>
            </a:r>
          </a:p>
        </p:txBody>
      </p:sp>
      <p:sp>
        <p:nvSpPr>
          <p:cNvPr id="395" name="TextBox 24"/>
          <p:cNvSpPr txBox="1"/>
          <p:nvPr/>
        </p:nvSpPr>
        <p:spPr>
          <a:xfrm>
            <a:off x="3200399" y="3255264"/>
            <a:ext cx="576072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retrain the backbone on more of the real data</a:t>
            </a:r>
          </a:p>
        </p:txBody>
      </p:sp>
      <p:sp>
        <p:nvSpPr>
          <p:cNvPr id="396" name="TextBox 25"/>
          <p:cNvSpPr txBox="1"/>
          <p:nvPr/>
        </p:nvSpPr>
        <p:spPr>
          <a:xfrm>
            <a:off x="9144000" y="3255264"/>
            <a:ext cx="17373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soup_v2</a:t>
            </a:r>
          </a:p>
        </p:txBody>
      </p:sp>
      <p:sp>
        <p:nvSpPr>
          <p:cNvPr id="397" name="TextBox 26"/>
          <p:cNvSpPr txBox="1"/>
          <p:nvPr/>
        </p:nvSpPr>
        <p:spPr>
          <a:xfrm>
            <a:off x="11064239" y="3255264"/>
            <a:ext cx="77724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2C3E50"/>
                </a:solidFill>
                <a:latin typeface="Arial"/>
                <a:ea typeface="Arial"/>
                <a:cs typeface="Arial"/>
                <a:sym typeface="Arial"/>
              </a:defRPr>
            </a:lvl1pPr>
          </a:lstStyle>
          <a:p>
            <a:pPr/>
            <a:r>
              <a:t>79.46</a:t>
            </a:r>
          </a:p>
        </p:txBody>
      </p:sp>
      <p:sp>
        <p:nvSpPr>
          <p:cNvPr id="398" name="TextBox 27"/>
          <p:cNvSpPr txBox="1"/>
          <p:nvPr/>
        </p:nvSpPr>
        <p:spPr>
          <a:xfrm>
            <a:off x="777239" y="3657600"/>
            <a:ext cx="219456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1F4E79"/>
                </a:solidFill>
                <a:latin typeface="Arial"/>
                <a:ea typeface="Arial"/>
                <a:cs typeface="Arial"/>
                <a:sym typeface="Arial"/>
              </a:defRPr>
            </a:lvl1pPr>
          </a:lstStyle>
          <a:p>
            <a:pPr/>
            <a:r>
              <a:t>SPEED_SAFE</a:t>
            </a:r>
          </a:p>
        </p:txBody>
      </p:sp>
      <p:sp>
        <p:nvSpPr>
          <p:cNvPr id="399" name="TextBox 28"/>
          <p:cNvSpPr txBox="1"/>
          <p:nvPr/>
        </p:nvSpPr>
        <p:spPr>
          <a:xfrm>
            <a:off x="3200399" y="3657600"/>
            <a:ext cx="576072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host-side speed fixes; outputs bit-identical</a:t>
            </a:r>
          </a:p>
        </p:txBody>
      </p:sp>
      <p:sp>
        <p:nvSpPr>
          <p:cNvPr id="400" name="TextBox 29"/>
          <p:cNvSpPr txBox="1"/>
          <p:nvPr/>
        </p:nvSpPr>
        <p:spPr>
          <a:xfrm>
            <a:off x="9144000" y="3657600"/>
            <a:ext cx="17373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same</a:t>
            </a:r>
          </a:p>
        </p:txBody>
      </p:sp>
      <p:sp>
        <p:nvSpPr>
          <p:cNvPr id="401" name="TextBox 30"/>
          <p:cNvSpPr txBox="1"/>
          <p:nvPr/>
        </p:nvSpPr>
        <p:spPr>
          <a:xfrm>
            <a:off x="11064239" y="3657600"/>
            <a:ext cx="77724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2C3E50"/>
                </a:solidFill>
                <a:latin typeface="Arial"/>
                <a:ea typeface="Arial"/>
                <a:cs typeface="Arial"/>
                <a:sym typeface="Arial"/>
              </a:defRPr>
            </a:lvl1pPr>
          </a:lstStyle>
          <a:p>
            <a:pPr/>
            <a:r>
              <a:t>79.49</a:t>
            </a:r>
          </a:p>
        </p:txBody>
      </p:sp>
      <p:sp>
        <p:nvSpPr>
          <p:cNvPr id="402" name="TextBox 31"/>
          <p:cNvSpPr txBox="1"/>
          <p:nvPr/>
        </p:nvSpPr>
        <p:spPr>
          <a:xfrm>
            <a:off x="777239" y="4059935"/>
            <a:ext cx="219456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1F4E79"/>
                </a:solidFill>
                <a:latin typeface="Arial"/>
                <a:ea typeface="Arial"/>
                <a:cs typeface="Arial"/>
                <a:sym typeface="Arial"/>
              </a:defRPr>
            </a:lvl1pPr>
          </a:lstStyle>
          <a:p>
            <a:pPr/>
            <a:r>
              <a:t>FITA1B</a:t>
            </a:r>
          </a:p>
        </p:txBody>
      </p:sp>
      <p:sp>
        <p:nvSpPr>
          <p:cNvPr id="403" name="TextBox 32"/>
          <p:cNvSpPr txBox="1"/>
          <p:nvPr/>
        </p:nvSpPr>
        <p:spPr>
          <a:xfrm>
            <a:off x="3200399" y="4059935"/>
            <a:ext cx="576072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a better fine-tuned backbone</a:t>
            </a:r>
          </a:p>
        </p:txBody>
      </p:sp>
      <p:sp>
        <p:nvSpPr>
          <p:cNvPr id="404" name="TextBox 33"/>
          <p:cNvSpPr txBox="1"/>
          <p:nvPr/>
        </p:nvSpPr>
        <p:spPr>
          <a:xfrm>
            <a:off x="9144000" y="4059935"/>
            <a:ext cx="173736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FITA1B FNO</a:t>
            </a:r>
          </a:p>
        </p:txBody>
      </p:sp>
      <p:sp>
        <p:nvSpPr>
          <p:cNvPr id="405" name="TextBox 34"/>
          <p:cNvSpPr txBox="1"/>
          <p:nvPr/>
        </p:nvSpPr>
        <p:spPr>
          <a:xfrm>
            <a:off x="11064239" y="4059935"/>
            <a:ext cx="77724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2C3E50"/>
                </a:solidFill>
                <a:latin typeface="Arial"/>
                <a:ea typeface="Arial"/>
                <a:cs typeface="Arial"/>
                <a:sym typeface="Arial"/>
              </a:defRPr>
            </a:lvl1pPr>
          </a:lstStyle>
          <a:p>
            <a:pPr/>
            <a:r>
              <a:t>79.49</a:t>
            </a:r>
          </a:p>
        </p:txBody>
      </p:sp>
      <p:sp>
        <p:nvSpPr>
          <p:cNvPr id="406" name="TextBox 35"/>
          <p:cNvSpPr txBox="1"/>
          <p:nvPr/>
        </p:nvSpPr>
        <p:spPr>
          <a:xfrm>
            <a:off x="777239" y="4462271"/>
            <a:ext cx="219456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CA6F1E"/>
                </a:solidFill>
                <a:latin typeface="Arial"/>
                <a:ea typeface="Arial"/>
                <a:cs typeface="Arial"/>
                <a:sym typeface="Arial"/>
              </a:defRPr>
            </a:lvl1pPr>
          </a:lstStyle>
          <a:p>
            <a:pPr/>
            <a:r>
              <a:t>FA1BMT</a:t>
            </a:r>
          </a:p>
        </p:txBody>
      </p:sp>
      <p:sp>
        <p:nvSpPr>
          <p:cNvPr id="407" name="TextBox 36"/>
          <p:cNvSpPr txBox="1"/>
          <p:nvPr/>
        </p:nvSpPr>
        <p:spPr>
          <a:xfrm>
            <a:off x="3200399" y="4462271"/>
            <a:ext cx="576072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200">
                <a:solidFill>
                  <a:srgbClr val="1A2E4A"/>
                </a:solidFill>
                <a:latin typeface="Arial"/>
                <a:ea typeface="Arial"/>
                <a:cs typeface="Arial"/>
                <a:sym typeface="Arial"/>
              </a:defRPr>
            </a:lvl1pPr>
          </a:lstStyle>
          <a:p>
            <a:pPr/>
            <a:r>
              <a:t>ADDED THE TKE HEAD: rescale predicted fluctuations</a:t>
            </a:r>
          </a:p>
        </p:txBody>
      </p:sp>
      <p:sp>
        <p:nvSpPr>
          <p:cNvPr id="408" name="TextBox 37"/>
          <p:cNvSpPr txBox="1"/>
          <p:nvPr/>
        </p:nvSpPr>
        <p:spPr>
          <a:xfrm>
            <a:off x="9144000" y="4462271"/>
            <a:ext cx="173736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 TKE net</a:t>
            </a:r>
          </a:p>
        </p:txBody>
      </p:sp>
      <p:sp>
        <p:nvSpPr>
          <p:cNvPr id="409" name="TextBox 38"/>
          <p:cNvSpPr txBox="1"/>
          <p:nvPr/>
        </p:nvSpPr>
        <p:spPr>
          <a:xfrm>
            <a:off x="11064239" y="4462271"/>
            <a:ext cx="77724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1E8B4C"/>
                </a:solidFill>
                <a:latin typeface="Arial"/>
                <a:ea typeface="Arial"/>
                <a:cs typeface="Arial"/>
                <a:sym typeface="Arial"/>
              </a:defRPr>
            </a:lvl1pPr>
          </a:lstStyle>
          <a:p>
            <a:pPr/>
            <a:r>
              <a:t>79.59</a:t>
            </a:r>
          </a:p>
        </p:txBody>
      </p:sp>
      <p:sp>
        <p:nvSpPr>
          <p:cNvPr id="410" name="TextBox 39"/>
          <p:cNvSpPr txBox="1"/>
          <p:nvPr/>
        </p:nvSpPr>
        <p:spPr>
          <a:xfrm>
            <a:off x="777239" y="4864608"/>
            <a:ext cx="219456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1F4E79"/>
                </a:solidFill>
                <a:latin typeface="Arial"/>
                <a:ea typeface="Arial"/>
                <a:cs typeface="Arial"/>
                <a:sym typeface="Arial"/>
              </a:defRPr>
            </a:lvl1pPr>
          </a:lstStyle>
          <a:p>
            <a:pPr/>
            <a:r>
              <a:t>FA1BMLOT7</a:t>
            </a:r>
          </a:p>
        </p:txBody>
      </p:sp>
      <p:sp>
        <p:nvSpPr>
          <p:cNvPr id="411" name="TextBox 40"/>
          <p:cNvSpPr txBox="1"/>
          <p:nvPr/>
        </p:nvSpPr>
        <p:spPr>
          <a:xfrm>
            <a:off x="3200399" y="4864608"/>
            <a:ext cx="576072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move the blank-region mask onto the GPU</a:t>
            </a:r>
          </a:p>
        </p:txBody>
      </p:sp>
      <p:sp>
        <p:nvSpPr>
          <p:cNvPr id="412" name="TextBox 41"/>
          <p:cNvSpPr txBox="1"/>
          <p:nvPr/>
        </p:nvSpPr>
        <p:spPr>
          <a:xfrm>
            <a:off x="9144000" y="4864608"/>
            <a:ext cx="17373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same</a:t>
            </a:r>
          </a:p>
        </p:txBody>
      </p:sp>
      <p:sp>
        <p:nvSpPr>
          <p:cNvPr id="413" name="TextBox 42"/>
          <p:cNvSpPr txBox="1"/>
          <p:nvPr/>
        </p:nvSpPr>
        <p:spPr>
          <a:xfrm>
            <a:off x="11064239" y="4864608"/>
            <a:ext cx="77724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2C3E50"/>
                </a:solidFill>
                <a:latin typeface="Arial"/>
                <a:ea typeface="Arial"/>
                <a:cs typeface="Arial"/>
                <a:sym typeface="Arial"/>
              </a:defRPr>
            </a:lvl1pPr>
          </a:lstStyle>
          <a:p>
            <a:pPr/>
            <a:r>
              <a:t>79.75</a:t>
            </a:r>
          </a:p>
        </p:txBody>
      </p:sp>
      <p:sp>
        <p:nvSpPr>
          <p:cNvPr id="414" name="TextBox 43"/>
          <p:cNvSpPr txBox="1"/>
          <p:nvPr/>
        </p:nvSpPr>
        <p:spPr>
          <a:xfrm>
            <a:off x="777239" y="5266944"/>
            <a:ext cx="219456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1F4E79"/>
                </a:solidFill>
                <a:latin typeface="Arial"/>
                <a:ea typeface="Arial"/>
                <a:cs typeface="Arial"/>
                <a:sym typeface="Arial"/>
              </a:defRPr>
            </a:lvl1pPr>
          </a:lstStyle>
          <a:p>
            <a:pPr/>
            <a:r>
              <a:t>LUT150</a:t>
            </a:r>
          </a:p>
        </p:txBody>
      </p:sp>
      <p:sp>
        <p:nvSpPr>
          <p:cNvPr id="415" name="TextBox 44"/>
          <p:cNvSpPr txBox="1"/>
          <p:nvPr/>
        </p:nvSpPr>
        <p:spPr>
          <a:xfrm>
            <a:off x="3200399" y="5266944"/>
            <a:ext cx="576072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reshape the per-bin interval widths</a:t>
            </a:r>
          </a:p>
        </p:txBody>
      </p:sp>
      <p:sp>
        <p:nvSpPr>
          <p:cNvPr id="416" name="TextBox 45"/>
          <p:cNvSpPr txBox="1"/>
          <p:nvPr/>
        </p:nvSpPr>
        <p:spPr>
          <a:xfrm>
            <a:off x="9144000" y="5266944"/>
            <a:ext cx="17373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same (frozen)</a:t>
            </a:r>
          </a:p>
        </p:txBody>
      </p:sp>
      <p:sp>
        <p:nvSpPr>
          <p:cNvPr id="417" name="TextBox 46"/>
          <p:cNvSpPr txBox="1"/>
          <p:nvPr/>
        </p:nvSpPr>
        <p:spPr>
          <a:xfrm>
            <a:off x="11064239" y="5266944"/>
            <a:ext cx="777241"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2C3E50"/>
                </a:solidFill>
                <a:latin typeface="Arial"/>
                <a:ea typeface="Arial"/>
                <a:cs typeface="Arial"/>
                <a:sym typeface="Arial"/>
              </a:defRPr>
            </a:lvl1pPr>
          </a:lstStyle>
          <a:p>
            <a:pPr/>
            <a:r>
              <a:t>79.86</a:t>
            </a:r>
          </a:p>
        </p:txBody>
      </p:sp>
      <p:sp>
        <p:nvSpPr>
          <p:cNvPr id="418" name="TextBox 47"/>
          <p:cNvSpPr txBox="1"/>
          <p:nvPr/>
        </p:nvSpPr>
        <p:spPr>
          <a:xfrm>
            <a:off x="777239" y="5669279"/>
            <a:ext cx="219456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300">
                <a:solidFill>
                  <a:srgbClr val="CA6F1E"/>
                </a:solidFill>
                <a:latin typeface="Arial"/>
                <a:ea typeface="Arial"/>
                <a:cs typeface="Arial"/>
                <a:sym typeface="Arial"/>
              </a:defRPr>
            </a:lvl1pPr>
          </a:lstStyle>
          <a:p>
            <a:pPr/>
            <a:r>
              <a:t>NARROW080</a:t>
            </a:r>
          </a:p>
        </p:txBody>
      </p:sp>
      <p:sp>
        <p:nvSpPr>
          <p:cNvPr id="419" name="TextBox 48"/>
          <p:cNvSpPr txBox="1"/>
          <p:nvPr/>
        </p:nvSpPr>
        <p:spPr>
          <a:xfrm>
            <a:off x="3200399" y="5669279"/>
            <a:ext cx="576072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200">
                <a:solidFill>
                  <a:srgbClr val="1A2E4A"/>
                </a:solidFill>
                <a:latin typeface="Arial"/>
                <a:ea typeface="Arial"/>
                <a:cs typeface="Arial"/>
                <a:sym typeface="Arial"/>
              </a:defRPr>
            </a:lvl1pPr>
          </a:lstStyle>
          <a:p>
            <a:pPr/>
            <a:r>
              <a:t>multiply every interval width by 0.80</a:t>
            </a:r>
          </a:p>
        </p:txBody>
      </p:sp>
      <p:sp>
        <p:nvSpPr>
          <p:cNvPr id="420" name="TextBox 49"/>
          <p:cNvSpPr txBox="1"/>
          <p:nvPr/>
        </p:nvSpPr>
        <p:spPr>
          <a:xfrm>
            <a:off x="9144000" y="5669279"/>
            <a:ext cx="173736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E50"/>
                </a:solidFill>
                <a:latin typeface="Arial"/>
                <a:ea typeface="Arial"/>
                <a:cs typeface="Arial"/>
                <a:sym typeface="Arial"/>
              </a:defRPr>
            </a:lvl1pPr>
          </a:lstStyle>
          <a:p>
            <a:pPr/>
            <a:r>
              <a:t>same (frozen)</a:t>
            </a:r>
          </a:p>
        </p:txBody>
      </p:sp>
      <p:sp>
        <p:nvSpPr>
          <p:cNvPr id="421" name="TextBox 50"/>
          <p:cNvSpPr txBox="1"/>
          <p:nvPr/>
        </p:nvSpPr>
        <p:spPr>
          <a:xfrm>
            <a:off x="11064239" y="5669279"/>
            <a:ext cx="777241" cy="27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300">
                <a:solidFill>
                  <a:srgbClr val="1E8B4C"/>
                </a:solidFill>
                <a:latin typeface="Arial"/>
                <a:ea typeface="Arial"/>
                <a:cs typeface="Arial"/>
                <a:sym typeface="Arial"/>
              </a:defRPr>
            </a:lvl1pPr>
          </a:lstStyle>
          <a:p>
            <a:pPr/>
            <a:r>
              <a:t>80.06</a:t>
            </a:r>
          </a:p>
        </p:txBody>
      </p:sp>
      <p:sp>
        <p:nvSpPr>
          <p:cNvPr id="422" name="TextBox 51"/>
          <p:cNvSpPr txBox="1"/>
          <p:nvPr/>
        </p:nvSpPr>
        <p:spPr>
          <a:xfrm>
            <a:off x="777240" y="6181344"/>
            <a:ext cx="10634472" cy="2888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400">
                <a:solidFill>
                  <a:srgbClr val="1F4E79"/>
                </a:solidFill>
                <a:latin typeface="Arial"/>
                <a:ea typeface="Arial"/>
                <a:cs typeface="Arial"/>
                <a:sym typeface="Arial"/>
              </a:defRPr>
            </a:pPr>
            <a:r>
              <a:t>The last two changed only the interval widths</a:t>
            </a:r>
            <a:r>
              <a:t>, </a:t>
            </a:r>
            <a:r>
              <a:t>the forecast was byte-identical.</a:t>
            </a:r>
          </a:p>
        </p:txBody>
      </p:sp>
      <p:sp>
        <p:nvSpPr>
          <p:cNvPr id="423" name="Rectangle 52"/>
          <p:cNvSpPr/>
          <p:nvPr/>
        </p:nvSpPr>
        <p:spPr>
          <a:xfrm>
            <a:off x="0" y="6537959"/>
            <a:ext cx="12188825"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24" name="TextBox 53"/>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425" name="TextBox 54"/>
          <p:cNvSpPr txBox="1"/>
          <p:nvPr/>
        </p:nvSpPr>
        <p:spPr>
          <a:xfrm>
            <a:off x="10862944"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14 / 21</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9"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30"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31"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32"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The Steps That Moved the Score</a:t>
            </a:r>
          </a:p>
        </p:txBody>
      </p:sp>
      <p:sp>
        <p:nvSpPr>
          <p:cNvPr id="433"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Only submissions that improved on the best so far</a:t>
            </a:r>
          </a:p>
        </p:txBody>
      </p:sp>
      <p:sp>
        <p:nvSpPr>
          <p:cNvPr id="434"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35"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436"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15 / 21</a:t>
            </a:r>
          </a:p>
        </p:txBody>
      </p:sp>
      <p:sp>
        <p:nvSpPr>
          <p:cNvPr id="437" name="Rectangle 9"/>
          <p:cNvSpPr/>
          <p:nvPr/>
        </p:nvSpPr>
        <p:spPr>
          <a:xfrm>
            <a:off x="411479" y="1371600"/>
            <a:ext cx="11365994" cy="4114800"/>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pic>
        <p:nvPicPr>
          <p:cNvPr id="438" name="Picture 10" descr="Picture 10"/>
          <p:cNvPicPr>
            <a:picLocks noChangeAspect="1"/>
          </p:cNvPicPr>
          <p:nvPr/>
        </p:nvPicPr>
        <p:blipFill>
          <a:blip r:embed="rId3">
            <a:extLst/>
          </a:blip>
          <a:stretch>
            <a:fillRect/>
          </a:stretch>
        </p:blipFill>
        <p:spPr>
          <a:xfrm>
            <a:off x="1315211" y="1508760"/>
            <a:ext cx="9558530" cy="3840480"/>
          </a:xfrm>
          <a:prstGeom prst="rect">
            <a:avLst/>
          </a:prstGeom>
          <a:ln w="12700">
            <a:miter lim="400000"/>
          </a:ln>
        </p:spPr>
      </p:pic>
      <p:sp>
        <p:nvSpPr>
          <p:cNvPr id="439" name="TextBox 11"/>
          <p:cNvSpPr txBox="1"/>
          <p:nvPr/>
        </p:nvSpPr>
        <p:spPr>
          <a:xfrm>
            <a:off x="457199" y="5715000"/>
            <a:ext cx="11274553" cy="3506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a:solidFill>
                  <a:srgbClr val="1F4E79"/>
                </a:solidFill>
                <a:latin typeface="Arial"/>
                <a:ea typeface="Arial"/>
                <a:cs typeface="Arial"/>
                <a:sym typeface="Arial"/>
              </a:defRPr>
            </a:pPr>
            <a:r>
              <a:t>The last two steps changed only the bounds </a:t>
            </a:r>
            <a:r>
              <a:t>and</a:t>
            </a:r>
            <a:r>
              <a:t> the forecast was byte-identical.</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44"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45"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46"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Getting It Wrong, Then Right</a:t>
            </a:r>
          </a:p>
        </p:txBody>
      </p:sp>
      <p:sp>
        <p:nvSpPr>
          <p:cNvPr id="447"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22 – 23 September</a:t>
            </a:r>
          </a:p>
        </p:txBody>
      </p:sp>
      <p:sp>
        <p:nvSpPr>
          <p:cNvPr id="448"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49"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450"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16 / 21</a:t>
            </a:r>
          </a:p>
        </p:txBody>
      </p:sp>
      <p:sp>
        <p:nvSpPr>
          <p:cNvPr id="451" name="Rectangle 9"/>
          <p:cNvSpPr/>
          <p:nvPr/>
        </p:nvSpPr>
        <p:spPr>
          <a:xfrm>
            <a:off x="411480" y="1371600"/>
            <a:ext cx="5545836" cy="507492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52" name="TextBox 10"/>
          <p:cNvSpPr txBox="1"/>
          <p:nvPr/>
        </p:nvSpPr>
        <p:spPr>
          <a:xfrm>
            <a:off x="685800" y="1508760"/>
            <a:ext cx="4997196"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CA6F1E"/>
                </a:solidFill>
                <a:latin typeface="Arial"/>
                <a:ea typeface="Arial"/>
                <a:cs typeface="Arial"/>
                <a:sym typeface="Arial"/>
              </a:defRPr>
            </a:lvl1pPr>
          </a:lstStyle>
          <a:p>
            <a:pPr/>
            <a:r>
              <a:t>22 Sep - the mistake</a:t>
            </a:r>
          </a:p>
        </p:txBody>
      </p:sp>
      <p:sp>
        <p:nvSpPr>
          <p:cNvPr id="453" name="TextBox 11"/>
          <p:cNvSpPr txBox="1"/>
          <p:nvPr/>
        </p:nvSpPr>
        <p:spPr>
          <a:xfrm>
            <a:off x="777239" y="2240279"/>
            <a:ext cx="1645922" cy="3506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CA6F1E"/>
                </a:solidFill>
                <a:latin typeface="Arial"/>
                <a:ea typeface="Arial"/>
                <a:cs typeface="Arial"/>
                <a:sym typeface="Arial"/>
              </a:defRPr>
            </a:lvl1pPr>
          </a:lstStyle>
          <a:p>
            <a:pPr/>
            <a:r>
              <a:t>Predicted</a:t>
            </a:r>
          </a:p>
        </p:txBody>
      </p:sp>
      <p:sp>
        <p:nvSpPr>
          <p:cNvPr id="454" name="TextBox 12"/>
          <p:cNvSpPr txBox="1"/>
          <p:nvPr/>
        </p:nvSpPr>
        <p:spPr>
          <a:xfrm>
            <a:off x="2514600" y="2258567"/>
            <a:ext cx="3122677" cy="3133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C3E50"/>
                </a:solidFill>
                <a:latin typeface="Arial"/>
                <a:ea typeface="Arial"/>
                <a:cs typeface="Arial"/>
                <a:sym typeface="Arial"/>
              </a:defRPr>
            </a:lvl1pPr>
          </a:lstStyle>
          <a:p>
            <a:pPr/>
            <a:r>
              <a:t>+0.11  (widen the intervals 20%)</a:t>
            </a:r>
          </a:p>
        </p:txBody>
      </p:sp>
      <p:sp>
        <p:nvSpPr>
          <p:cNvPr id="455" name="TextBox 13"/>
          <p:cNvSpPr txBox="1"/>
          <p:nvPr/>
        </p:nvSpPr>
        <p:spPr>
          <a:xfrm>
            <a:off x="777239" y="3200400"/>
            <a:ext cx="1645922" cy="3506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CA6F1E"/>
                </a:solidFill>
                <a:latin typeface="Arial"/>
                <a:ea typeface="Arial"/>
                <a:cs typeface="Arial"/>
                <a:sym typeface="Arial"/>
              </a:defRPr>
            </a:lvl1pPr>
          </a:lstStyle>
          <a:p>
            <a:pPr/>
            <a:r>
              <a:t>Actual</a:t>
            </a:r>
          </a:p>
        </p:txBody>
      </p:sp>
      <p:sp>
        <p:nvSpPr>
          <p:cNvPr id="456" name="TextBox 14"/>
          <p:cNvSpPr txBox="1"/>
          <p:nvPr/>
        </p:nvSpPr>
        <p:spPr>
          <a:xfrm>
            <a:off x="2514600" y="3218688"/>
            <a:ext cx="3122677" cy="5419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solidFill>
                  <a:srgbClr val="2C3E50"/>
                </a:solidFill>
                <a:latin typeface="Arial"/>
                <a:ea typeface="Arial"/>
                <a:cs typeface="Arial"/>
                <a:sym typeface="Arial"/>
              </a:defRPr>
            </a:pPr>
            <a:r>
              <a:t>−</a:t>
            </a:r>
            <a:r>
              <a:t>0.48 - </a:t>
            </a:r>
            <a:r>
              <a:t>worst submission </a:t>
            </a:r>
            <a:r>
              <a:t>in weeks</a:t>
            </a:r>
          </a:p>
        </p:txBody>
      </p:sp>
      <p:sp>
        <p:nvSpPr>
          <p:cNvPr id="457" name="TextBox 15"/>
          <p:cNvSpPr txBox="1"/>
          <p:nvPr/>
        </p:nvSpPr>
        <p:spPr>
          <a:xfrm>
            <a:off x="777239" y="4160520"/>
            <a:ext cx="1645922" cy="3506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CA6F1E"/>
                </a:solidFill>
                <a:latin typeface="Arial"/>
                <a:ea typeface="Arial"/>
                <a:cs typeface="Arial"/>
                <a:sym typeface="Arial"/>
              </a:defRPr>
            </a:lvl1pPr>
          </a:lstStyle>
          <a:p>
            <a:pPr/>
            <a:r>
              <a:t>Cause</a:t>
            </a:r>
          </a:p>
        </p:txBody>
      </p:sp>
      <p:sp>
        <p:nvSpPr>
          <p:cNvPr id="458" name="TextBox 16"/>
          <p:cNvSpPr txBox="1"/>
          <p:nvPr/>
        </p:nvSpPr>
        <p:spPr>
          <a:xfrm>
            <a:off x="2514600" y="4178808"/>
            <a:ext cx="3122677" cy="5419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C3E50"/>
                </a:solidFill>
                <a:latin typeface="Arial"/>
                <a:ea typeface="Arial"/>
                <a:cs typeface="Arial"/>
                <a:sym typeface="Arial"/>
              </a:defRPr>
            </a:lvl1pPr>
          </a:lstStyle>
          <a:p>
            <a:pPr/>
            <a:r>
              <a:t>a calibration constant was 2.14× too large</a:t>
            </a:r>
          </a:p>
        </p:txBody>
      </p:sp>
      <p:sp>
        <p:nvSpPr>
          <p:cNvPr id="459" name="Rectangle 17"/>
          <p:cNvSpPr/>
          <p:nvPr/>
        </p:nvSpPr>
        <p:spPr>
          <a:xfrm>
            <a:off x="6231635" y="1371600"/>
            <a:ext cx="5545837" cy="507492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60" name="TextBox 18"/>
          <p:cNvSpPr txBox="1"/>
          <p:nvPr/>
        </p:nvSpPr>
        <p:spPr>
          <a:xfrm>
            <a:off x="6505955" y="1508760"/>
            <a:ext cx="4997197"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900">
                <a:solidFill>
                  <a:srgbClr val="1E8B4C"/>
                </a:solidFill>
                <a:latin typeface="Arial"/>
                <a:ea typeface="Arial"/>
                <a:cs typeface="Arial"/>
                <a:sym typeface="Arial"/>
              </a:defRPr>
            </a:pPr>
            <a:r>
              <a:t>23 Sep </a:t>
            </a:r>
            <a:r>
              <a:t>-</a:t>
            </a:r>
            <a:r>
              <a:t> the recovery</a:t>
            </a:r>
          </a:p>
        </p:txBody>
      </p:sp>
      <p:sp>
        <p:nvSpPr>
          <p:cNvPr id="461" name="TextBox 19"/>
          <p:cNvSpPr txBox="1"/>
          <p:nvPr/>
        </p:nvSpPr>
        <p:spPr>
          <a:xfrm>
            <a:off x="6551676" y="2240279"/>
            <a:ext cx="1645921" cy="3506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1E8B4C"/>
                </a:solidFill>
                <a:latin typeface="Arial"/>
                <a:ea typeface="Arial"/>
                <a:cs typeface="Arial"/>
                <a:sym typeface="Arial"/>
              </a:defRPr>
            </a:lvl1pPr>
          </a:lstStyle>
          <a:p>
            <a:pPr/>
            <a:r>
              <a:t>Predicted</a:t>
            </a:r>
          </a:p>
        </p:txBody>
      </p:sp>
      <p:sp>
        <p:nvSpPr>
          <p:cNvPr id="462" name="TextBox 20"/>
          <p:cNvSpPr txBox="1"/>
          <p:nvPr/>
        </p:nvSpPr>
        <p:spPr>
          <a:xfrm>
            <a:off x="8289035" y="2258567"/>
            <a:ext cx="3122677" cy="3133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C3E50"/>
                </a:solidFill>
                <a:latin typeface="Arial"/>
                <a:ea typeface="Arial"/>
                <a:cs typeface="Arial"/>
                <a:sym typeface="Arial"/>
              </a:defRPr>
            </a:lvl1pPr>
          </a:lstStyle>
          <a:p>
            <a:pPr/>
            <a:r>
              <a:t>+0.31  (narrow them instead)</a:t>
            </a:r>
          </a:p>
        </p:txBody>
      </p:sp>
      <p:sp>
        <p:nvSpPr>
          <p:cNvPr id="463" name="TextBox 21"/>
          <p:cNvSpPr txBox="1"/>
          <p:nvPr/>
        </p:nvSpPr>
        <p:spPr>
          <a:xfrm>
            <a:off x="6551676" y="3200400"/>
            <a:ext cx="1645921" cy="3506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1E8B4C"/>
                </a:solidFill>
                <a:latin typeface="Arial"/>
                <a:ea typeface="Arial"/>
                <a:cs typeface="Arial"/>
                <a:sym typeface="Arial"/>
              </a:defRPr>
            </a:lvl1pPr>
          </a:lstStyle>
          <a:p>
            <a:pPr/>
            <a:r>
              <a:t>Actual</a:t>
            </a:r>
          </a:p>
        </p:txBody>
      </p:sp>
      <p:sp>
        <p:nvSpPr>
          <p:cNvPr id="464" name="TextBox 22"/>
          <p:cNvSpPr txBox="1"/>
          <p:nvPr/>
        </p:nvSpPr>
        <p:spPr>
          <a:xfrm>
            <a:off x="8289035" y="3218688"/>
            <a:ext cx="3122677" cy="5419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solidFill>
                  <a:srgbClr val="2C3E50"/>
                </a:solidFill>
                <a:latin typeface="Arial"/>
                <a:ea typeface="Arial"/>
                <a:cs typeface="Arial"/>
                <a:sym typeface="Arial"/>
              </a:defRPr>
            </a:pPr>
            <a:r>
              <a:t>+0.20 </a:t>
            </a:r>
            <a:r>
              <a:t>- </a:t>
            </a:r>
            <a:r>
              <a:t>crossing 80 for the first time</a:t>
            </a:r>
          </a:p>
        </p:txBody>
      </p:sp>
      <p:sp>
        <p:nvSpPr>
          <p:cNvPr id="465" name="TextBox 23"/>
          <p:cNvSpPr txBox="1"/>
          <p:nvPr/>
        </p:nvSpPr>
        <p:spPr>
          <a:xfrm>
            <a:off x="6551676" y="4160520"/>
            <a:ext cx="1645921" cy="3506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1E8B4C"/>
                </a:solidFill>
                <a:latin typeface="Arial"/>
                <a:ea typeface="Arial"/>
                <a:cs typeface="Arial"/>
                <a:sym typeface="Arial"/>
              </a:defRPr>
            </a:lvl1pPr>
          </a:lstStyle>
          <a:p>
            <a:pPr/>
            <a:r>
              <a:t>Now</a:t>
            </a:r>
          </a:p>
        </p:txBody>
      </p:sp>
      <p:sp>
        <p:nvSpPr>
          <p:cNvPr id="466" name="TextBox 24"/>
          <p:cNvSpPr txBox="1"/>
          <p:nvPr/>
        </p:nvSpPr>
        <p:spPr>
          <a:xfrm>
            <a:off x="8289035" y="4178808"/>
            <a:ext cx="3122677" cy="5419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C3E50"/>
                </a:solidFill>
                <a:latin typeface="Arial"/>
                <a:ea typeface="Arial"/>
                <a:cs typeface="Arial"/>
                <a:sym typeface="Arial"/>
              </a:defRPr>
            </a:lvl1pPr>
          </a:lstStyle>
          <a:p>
            <a:pPr/>
            <a:r>
              <a:t>the curve is pinned; this lever is finished</a:t>
            </a:r>
          </a:p>
        </p:txBody>
      </p:sp>
      <p:sp>
        <p:nvSpPr>
          <p:cNvPr id="467" name="Rectangle 25"/>
          <p:cNvSpPr/>
          <p:nvPr/>
        </p:nvSpPr>
        <p:spPr>
          <a:xfrm>
            <a:off x="411479" y="5303520"/>
            <a:ext cx="11365994" cy="1097281"/>
          </a:xfrm>
          <a:prstGeom prst="rect">
            <a:avLst/>
          </a:prstGeom>
          <a:solidFill>
            <a:srgbClr val="FFFFFF"/>
          </a:solidFill>
          <a:ln w="25400">
            <a:solidFill>
              <a:srgbClr val="2E86C1"/>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68" name="TextBox 26"/>
          <p:cNvSpPr txBox="1"/>
          <p:nvPr/>
        </p:nvSpPr>
        <p:spPr>
          <a:xfrm>
            <a:off x="457199" y="5577840"/>
            <a:ext cx="11274553"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000">
                <a:solidFill>
                  <a:srgbClr val="1A2E4A"/>
                </a:solidFill>
                <a:latin typeface="Arial"/>
                <a:ea typeface="Arial"/>
                <a:cs typeface="Arial"/>
                <a:sym typeface="Arial"/>
              </a:defRPr>
            </a:lvl1pPr>
          </a:lstStyle>
          <a:p>
            <a:pPr/>
            <a:r>
              <a:t>A wrong prediction that was written down in advance becomes a measurement.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2"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73"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74"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75"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Where We Stand</a:t>
            </a:r>
          </a:p>
        </p:txBody>
      </p:sp>
      <p:sp>
        <p:nvSpPr>
          <p:cNvPr id="476"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Current Rank - 61 out of 181 teams remaining after elimination</a:t>
            </a:r>
          </a:p>
        </p:txBody>
      </p:sp>
      <p:sp>
        <p:nvSpPr>
          <p:cNvPr id="477"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78"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479"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17 / 21</a:t>
            </a:r>
          </a:p>
        </p:txBody>
      </p:sp>
      <p:sp>
        <p:nvSpPr>
          <p:cNvPr id="480" name="Rectangle 9"/>
          <p:cNvSpPr/>
          <p:nvPr/>
        </p:nvSpPr>
        <p:spPr>
          <a:xfrm>
            <a:off x="411479" y="1371600"/>
            <a:ext cx="11365994" cy="393192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81" name="TextBox 11"/>
          <p:cNvSpPr txBox="1"/>
          <p:nvPr/>
        </p:nvSpPr>
        <p:spPr>
          <a:xfrm>
            <a:off x="452373" y="5550408"/>
            <a:ext cx="11274554" cy="3506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a:solidFill>
                  <a:srgbClr val="1F4E79"/>
                </a:solidFill>
                <a:latin typeface="Arial"/>
                <a:ea typeface="Arial"/>
                <a:cs typeface="Arial"/>
                <a:sym typeface="Arial"/>
              </a:defRPr>
            </a:lvl1pPr>
          </a:lstStyle>
          <a:p>
            <a:pPr/>
            <a:r>
              <a:t> We are currently 2.5% behind the leader.</a:t>
            </a:r>
          </a:p>
        </p:txBody>
      </p:sp>
      <p:pic>
        <p:nvPicPr>
          <p:cNvPr id="482" name="pasted-movie.png" descr="pasted-movie.png"/>
          <p:cNvPicPr>
            <a:picLocks noChangeAspect="1"/>
          </p:cNvPicPr>
          <p:nvPr/>
        </p:nvPicPr>
        <p:blipFill>
          <a:blip r:embed="rId3">
            <a:extLst/>
          </a:blip>
          <a:stretch>
            <a:fillRect/>
          </a:stretch>
        </p:blipFill>
        <p:spPr>
          <a:xfrm>
            <a:off x="1416485" y="1542789"/>
            <a:ext cx="9392558" cy="3772422"/>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6"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87"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88"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89"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What the Gap Consists Of</a:t>
            </a:r>
          </a:p>
        </p:txBody>
      </p:sp>
      <p:sp>
        <p:nvSpPr>
          <p:cNvPr id="490"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Reverse-engineered from the rank-1 competitor's published scores</a:t>
            </a:r>
          </a:p>
        </p:txBody>
      </p:sp>
      <p:sp>
        <p:nvSpPr>
          <p:cNvPr id="491"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92"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493"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18 / 21</a:t>
            </a:r>
          </a:p>
        </p:txBody>
      </p:sp>
      <p:sp>
        <p:nvSpPr>
          <p:cNvPr id="494" name="Rectangle 9"/>
          <p:cNvSpPr/>
          <p:nvPr/>
        </p:nvSpPr>
        <p:spPr>
          <a:xfrm>
            <a:off x="411479" y="1371600"/>
            <a:ext cx="6583682" cy="507492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pic>
        <p:nvPicPr>
          <p:cNvPr id="495" name="Picture 10" descr="Picture 10"/>
          <p:cNvPicPr>
            <a:picLocks noChangeAspect="1"/>
          </p:cNvPicPr>
          <p:nvPr/>
        </p:nvPicPr>
        <p:blipFill>
          <a:blip r:embed="rId3">
            <a:extLst/>
          </a:blip>
          <a:stretch>
            <a:fillRect/>
          </a:stretch>
        </p:blipFill>
        <p:spPr>
          <a:xfrm>
            <a:off x="502919" y="2140417"/>
            <a:ext cx="6400801" cy="3537286"/>
          </a:xfrm>
          <a:prstGeom prst="rect">
            <a:avLst/>
          </a:prstGeom>
          <a:ln w="12700">
            <a:miter lim="400000"/>
          </a:ln>
        </p:spPr>
      </p:pic>
      <p:sp>
        <p:nvSpPr>
          <p:cNvPr id="496" name="Rectangle 11"/>
          <p:cNvSpPr/>
          <p:nvPr/>
        </p:nvSpPr>
        <p:spPr>
          <a:xfrm>
            <a:off x="7178040" y="1371600"/>
            <a:ext cx="4599433" cy="507492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97" name="TextBox 12"/>
          <p:cNvSpPr txBox="1"/>
          <p:nvPr/>
        </p:nvSpPr>
        <p:spPr>
          <a:xfrm>
            <a:off x="7452359" y="1508760"/>
            <a:ext cx="4050793"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A2E4A"/>
                </a:solidFill>
                <a:latin typeface="Arial"/>
                <a:ea typeface="Arial"/>
                <a:cs typeface="Arial"/>
                <a:sym typeface="Arial"/>
              </a:defRPr>
            </a:lvl1pPr>
          </a:lstStyle>
          <a:p>
            <a:pPr/>
            <a:r>
              <a:t>How we know</a:t>
            </a:r>
          </a:p>
        </p:txBody>
      </p:sp>
      <p:sp>
        <p:nvSpPr>
          <p:cNvPr id="498" name="TextBox 13"/>
          <p:cNvSpPr txBox="1"/>
          <p:nvPr/>
        </p:nvSpPr>
        <p:spPr>
          <a:xfrm>
            <a:off x="7452359" y="2057400"/>
            <a:ext cx="4050793" cy="37927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800"/>
              </a:spcBef>
              <a:defRPr sz="1700">
                <a:solidFill>
                  <a:srgbClr val="2C3E50"/>
                </a:solidFill>
                <a:latin typeface="Arial"/>
                <a:ea typeface="Arial"/>
                <a:cs typeface="Arial"/>
                <a:sym typeface="Arial"/>
              </a:defRPr>
            </a:pPr>
            <a:r>
              <a:t>•  Their errors are 10–16% smaller </a:t>
            </a:r>
            <a:r>
              <a:t> </a:t>
            </a:r>
            <a:r>
              <a:t>and they are 30% FASTER.</a:t>
            </a:r>
          </a:p>
          <a:p>
            <a:pPr>
              <a:spcBef>
                <a:spcPts val="1800"/>
              </a:spcBef>
              <a:defRPr sz="1700">
                <a:solidFill>
                  <a:srgbClr val="2C3E50"/>
                </a:solidFill>
                <a:latin typeface="Arial"/>
                <a:ea typeface="Arial"/>
                <a:cs typeface="Arial"/>
                <a:sym typeface="Arial"/>
              </a:defRPr>
            </a:pPr>
            <a:r>
              <a:t>•  Faster AND more accurate cannot come from tuning.</a:t>
            </a:r>
          </a:p>
          <a:p>
            <a:pPr>
              <a:spcBef>
                <a:spcPts val="1800"/>
              </a:spcBef>
              <a:defRPr sz="1700">
                <a:solidFill>
                  <a:srgbClr val="2C3E50"/>
                </a:solidFill>
                <a:latin typeface="Arial"/>
                <a:ea typeface="Arial"/>
                <a:cs typeface="Arial"/>
                <a:sym typeface="Arial"/>
              </a:defRPr>
            </a:pPr>
            <a:r>
              <a:t>•  Against a perfect-uncertainty</a:t>
            </a:r>
            <a:r>
              <a:t> </a:t>
            </a:r>
            <a:r>
              <a:t>: we are at 83.6%, they are at 90.7%.</a:t>
            </a:r>
          </a:p>
          <a:p>
            <a:pPr marL="170447" indent="-170447">
              <a:spcBef>
                <a:spcPts val="1800"/>
              </a:spcBef>
              <a:buSzPct val="100000"/>
              <a:buChar char="•"/>
              <a:defRPr sz="1700">
                <a:solidFill>
                  <a:srgbClr val="2C3E50"/>
                </a:solidFill>
                <a:latin typeface="Arial"/>
                <a:ea typeface="Arial"/>
                <a:cs typeface="Arial"/>
                <a:sym typeface="Arial"/>
              </a:defRPr>
            </a:pPr>
            <a:r>
              <a:t> So: ~58% better model, ~42% better uncertainty.</a:t>
            </a:r>
          </a:p>
          <a:p>
            <a:pPr marL="170447" indent="-170447">
              <a:spcBef>
                <a:spcPts val="1800"/>
              </a:spcBef>
              <a:buSzPct val="100000"/>
              <a:buChar char="•"/>
              <a:defRPr sz="1700">
                <a:solidFill>
                  <a:srgbClr val="2C3E50"/>
                </a:solidFill>
                <a:latin typeface="Arial"/>
                <a:ea typeface="Arial"/>
                <a:cs typeface="Arial"/>
                <a:sym typeface="Arial"/>
              </a:defRPr>
            </a:pPr>
            <a:r>
              <a:t>After giving considerable time, the main finding is that local tests cannot measure the thing we are tuning</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2"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03"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04"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05"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Main Finding</a:t>
            </a:r>
          </a:p>
        </p:txBody>
      </p:sp>
      <p:sp>
        <p:nvSpPr>
          <p:cNvPr id="506"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Our offline test cannot measure the thing we were tuning</a:t>
            </a:r>
          </a:p>
        </p:txBody>
      </p:sp>
      <p:sp>
        <p:nvSpPr>
          <p:cNvPr id="507"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08"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509"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19 / 21</a:t>
            </a:r>
          </a:p>
        </p:txBody>
      </p:sp>
      <p:sp>
        <p:nvSpPr>
          <p:cNvPr id="510" name="Rectangle 9"/>
          <p:cNvSpPr/>
          <p:nvPr/>
        </p:nvSpPr>
        <p:spPr>
          <a:xfrm>
            <a:off x="411479" y="1371600"/>
            <a:ext cx="11402570" cy="375585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pic>
        <p:nvPicPr>
          <p:cNvPr id="511" name="Picture 10" descr="Picture 10"/>
          <p:cNvPicPr>
            <a:picLocks noChangeAspect="1"/>
          </p:cNvPicPr>
          <p:nvPr/>
        </p:nvPicPr>
        <p:blipFill>
          <a:blip r:embed="rId3">
            <a:extLst/>
          </a:blip>
          <a:stretch>
            <a:fillRect/>
          </a:stretch>
        </p:blipFill>
        <p:spPr>
          <a:xfrm>
            <a:off x="670904" y="1508760"/>
            <a:ext cx="10601906" cy="3449827"/>
          </a:xfrm>
          <a:prstGeom prst="rect">
            <a:avLst/>
          </a:prstGeom>
          <a:ln w="12700">
            <a:miter lim="400000"/>
          </a:ln>
        </p:spPr>
      </p:pic>
      <p:sp>
        <p:nvSpPr>
          <p:cNvPr id="512" name="Rectangle 11"/>
          <p:cNvSpPr/>
          <p:nvPr/>
        </p:nvSpPr>
        <p:spPr>
          <a:xfrm>
            <a:off x="411479" y="5270960"/>
            <a:ext cx="11365994" cy="1129841"/>
          </a:xfrm>
          <a:prstGeom prst="rect">
            <a:avLst/>
          </a:prstGeom>
          <a:solidFill>
            <a:srgbClr val="FFFFFF"/>
          </a:solidFill>
          <a:ln w="25400">
            <a:solidFill>
              <a:srgbClr val="CA6F1E"/>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13" name="TextBox 12"/>
          <p:cNvSpPr txBox="1"/>
          <p:nvPr/>
        </p:nvSpPr>
        <p:spPr>
          <a:xfrm>
            <a:off x="625016" y="5415786"/>
            <a:ext cx="10543032" cy="7427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200">
                <a:solidFill>
                  <a:srgbClr val="CA6F1E"/>
                </a:solidFill>
                <a:latin typeface="Arial"/>
                <a:ea typeface="Arial"/>
                <a:cs typeface="Arial"/>
                <a:sym typeface="Arial"/>
              </a:defRPr>
            </a:pPr>
            <a:r>
              <a:t>For accuracy the slope is −3.2</a:t>
            </a:r>
            <a:r>
              <a:t> i.e.</a:t>
            </a:r>
            <a:r>
              <a:t> meaningless.  The offline score varies 3× less than the real one.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7"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18"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19"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20"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What We Tested and Closed</a:t>
            </a:r>
          </a:p>
        </p:txBody>
      </p:sp>
      <p:sp>
        <p:nvSpPr>
          <p:cNvPr id="521"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Negative results, each with a number</a:t>
            </a:r>
          </a:p>
        </p:txBody>
      </p:sp>
      <p:sp>
        <p:nvSpPr>
          <p:cNvPr id="522"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23"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524"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20 / 21</a:t>
            </a:r>
          </a:p>
        </p:txBody>
      </p:sp>
      <p:sp>
        <p:nvSpPr>
          <p:cNvPr id="525" name="Rectangle 9"/>
          <p:cNvSpPr/>
          <p:nvPr/>
        </p:nvSpPr>
        <p:spPr>
          <a:xfrm>
            <a:off x="411479" y="1371600"/>
            <a:ext cx="11365994" cy="507492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26" name="TextBox 10"/>
          <p:cNvSpPr txBox="1"/>
          <p:nvPr/>
        </p:nvSpPr>
        <p:spPr>
          <a:xfrm>
            <a:off x="822960" y="1783079"/>
            <a:ext cx="7680960"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C3E50"/>
                </a:solidFill>
                <a:latin typeface="Arial"/>
                <a:ea typeface="Arial"/>
                <a:cs typeface="Arial"/>
                <a:sym typeface="Arial"/>
              </a:defRPr>
            </a:lvl1pPr>
          </a:lstStyle>
          <a:p>
            <a:pPr/>
            <a:r>
              <a:t>Extra inputs for the uncertainty model</a:t>
            </a:r>
          </a:p>
        </p:txBody>
      </p:sp>
      <p:sp>
        <p:nvSpPr>
          <p:cNvPr id="527" name="TextBox 11"/>
          <p:cNvSpPr txBox="1"/>
          <p:nvPr/>
        </p:nvSpPr>
        <p:spPr>
          <a:xfrm>
            <a:off x="8869679" y="1783079"/>
            <a:ext cx="2651761"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700">
                <a:solidFill>
                  <a:srgbClr val="CA6F1E"/>
                </a:solidFill>
                <a:latin typeface="Arial"/>
                <a:ea typeface="Arial"/>
                <a:cs typeface="Arial"/>
                <a:sym typeface="Arial"/>
              </a:defRPr>
            </a:lvl1pPr>
          </a:lstStyle>
          <a:p>
            <a:pPr/>
            <a:r>
              <a:t>+0.0005</a:t>
            </a:r>
          </a:p>
        </p:txBody>
      </p:sp>
      <p:sp>
        <p:nvSpPr>
          <p:cNvPr id="528" name="TextBox 12"/>
          <p:cNvSpPr txBox="1"/>
          <p:nvPr/>
        </p:nvSpPr>
        <p:spPr>
          <a:xfrm>
            <a:off x="822960" y="2350007"/>
            <a:ext cx="7680960"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C3E50"/>
                </a:solidFill>
                <a:latin typeface="Arial"/>
                <a:ea typeface="Arial"/>
                <a:cs typeface="Arial"/>
                <a:sym typeface="Arial"/>
              </a:defRPr>
            </a:lvl1pPr>
          </a:lstStyle>
          <a:p>
            <a:pPr/>
            <a:r>
              <a:t>Sensitivity of the forecast to its input</a:t>
            </a:r>
          </a:p>
        </p:txBody>
      </p:sp>
      <p:sp>
        <p:nvSpPr>
          <p:cNvPr id="529" name="TextBox 13"/>
          <p:cNvSpPr txBox="1"/>
          <p:nvPr/>
        </p:nvSpPr>
        <p:spPr>
          <a:xfrm>
            <a:off x="8869679" y="2350007"/>
            <a:ext cx="2651761"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700">
                <a:solidFill>
                  <a:srgbClr val="CA6F1E"/>
                </a:solidFill>
                <a:latin typeface="Arial"/>
                <a:ea typeface="Arial"/>
                <a:cs typeface="Arial"/>
                <a:sym typeface="Arial"/>
              </a:defRPr>
            </a:lvl1pPr>
          </a:lstStyle>
          <a:p>
            <a:pPr/>
            <a:r>
              <a:t>0.000</a:t>
            </a:r>
          </a:p>
        </p:txBody>
      </p:sp>
      <p:sp>
        <p:nvSpPr>
          <p:cNvPr id="530" name="TextBox 14"/>
          <p:cNvSpPr txBox="1"/>
          <p:nvPr/>
        </p:nvSpPr>
        <p:spPr>
          <a:xfrm>
            <a:off x="822960" y="2916935"/>
            <a:ext cx="7680960"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C3E50"/>
                </a:solidFill>
                <a:latin typeface="Arial"/>
                <a:ea typeface="Arial"/>
                <a:cs typeface="Arial"/>
                <a:sym typeface="Arial"/>
              </a:defRPr>
            </a:lvl1pPr>
          </a:lstStyle>
          <a:p>
            <a:pPr/>
            <a:r>
              <a:t>Averaging three uncertainty estimates</a:t>
            </a:r>
          </a:p>
        </p:txBody>
      </p:sp>
      <p:sp>
        <p:nvSpPr>
          <p:cNvPr id="531" name="TextBox 15"/>
          <p:cNvSpPr txBox="1"/>
          <p:nvPr/>
        </p:nvSpPr>
        <p:spPr>
          <a:xfrm>
            <a:off x="8869679" y="2916935"/>
            <a:ext cx="2651761"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700">
                <a:solidFill>
                  <a:srgbClr val="CA6F1E"/>
                </a:solidFill>
                <a:latin typeface="Arial"/>
                <a:ea typeface="Arial"/>
                <a:cs typeface="Arial"/>
                <a:sym typeface="Arial"/>
              </a:defRPr>
            </a:lvl1pPr>
          </a:lstStyle>
          <a:p>
            <a:pPr/>
            <a:r>
              <a:t>+0.0004</a:t>
            </a:r>
          </a:p>
        </p:txBody>
      </p:sp>
      <p:sp>
        <p:nvSpPr>
          <p:cNvPr id="532" name="TextBox 16"/>
          <p:cNvSpPr txBox="1"/>
          <p:nvPr/>
        </p:nvSpPr>
        <p:spPr>
          <a:xfrm>
            <a:off x="822960" y="3483864"/>
            <a:ext cx="7680960" cy="338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C3E50"/>
                </a:solidFill>
                <a:latin typeface="Arial"/>
                <a:ea typeface="Arial"/>
                <a:cs typeface="Arial"/>
                <a:sym typeface="Arial"/>
              </a:defRPr>
            </a:lvl1pPr>
          </a:lstStyle>
          <a:p>
            <a:pPr/>
            <a:r>
              <a:t>A new uncertainty net trained on the true score</a:t>
            </a:r>
          </a:p>
        </p:txBody>
      </p:sp>
      <p:sp>
        <p:nvSpPr>
          <p:cNvPr id="533" name="TextBox 17"/>
          <p:cNvSpPr txBox="1"/>
          <p:nvPr/>
        </p:nvSpPr>
        <p:spPr>
          <a:xfrm>
            <a:off x="8869679" y="3483864"/>
            <a:ext cx="2651761" cy="338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700">
                <a:solidFill>
                  <a:srgbClr val="CA6F1E"/>
                </a:solidFill>
                <a:latin typeface="Arial"/>
                <a:ea typeface="Arial"/>
                <a:cs typeface="Arial"/>
                <a:sym typeface="Arial"/>
              </a:defRPr>
            </a:lvl1pPr>
          </a:lstStyle>
          <a:p>
            <a:pPr/>
            <a:r>
              <a:t>−0.0004</a:t>
            </a:r>
          </a:p>
        </p:txBody>
      </p:sp>
      <p:sp>
        <p:nvSpPr>
          <p:cNvPr id="534" name="TextBox 18"/>
          <p:cNvSpPr txBox="1"/>
          <p:nvPr/>
        </p:nvSpPr>
        <p:spPr>
          <a:xfrm>
            <a:off x="822960" y="4050791"/>
            <a:ext cx="7680960"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C3E50"/>
                </a:solidFill>
                <a:latin typeface="Arial"/>
                <a:ea typeface="Arial"/>
                <a:cs typeface="Arial"/>
                <a:sym typeface="Arial"/>
              </a:defRPr>
            </a:pPr>
            <a:r>
              <a:t>U-Net </a:t>
            </a:r>
            <a:r>
              <a:t>-</a:t>
            </a:r>
            <a:r>
              <a:t> the benchmark's best architecture</a:t>
            </a:r>
          </a:p>
        </p:txBody>
      </p:sp>
      <p:sp>
        <p:nvSpPr>
          <p:cNvPr id="535" name="TextBox 19"/>
          <p:cNvSpPr txBox="1"/>
          <p:nvPr/>
        </p:nvSpPr>
        <p:spPr>
          <a:xfrm>
            <a:off x="8869679" y="4050791"/>
            <a:ext cx="2651761"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700">
                <a:solidFill>
                  <a:srgbClr val="CA6F1E"/>
                </a:solidFill>
                <a:latin typeface="Arial"/>
                <a:ea typeface="Arial"/>
                <a:cs typeface="Arial"/>
                <a:sym typeface="Arial"/>
              </a:defRPr>
            </a:lvl1pPr>
          </a:lstStyle>
          <a:p>
            <a:pPr/>
            <a:r>
              <a:t>−16%</a:t>
            </a:r>
          </a:p>
        </p:txBody>
      </p:sp>
      <p:sp>
        <p:nvSpPr>
          <p:cNvPr id="536" name="TextBox 22"/>
          <p:cNvSpPr txBox="1"/>
          <p:nvPr/>
        </p:nvSpPr>
        <p:spPr>
          <a:xfrm>
            <a:off x="822960" y="4626888"/>
            <a:ext cx="7680960"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C3E50"/>
                </a:solidFill>
                <a:latin typeface="Arial"/>
                <a:ea typeface="Arial"/>
                <a:cs typeface="Arial"/>
                <a:sym typeface="Arial"/>
              </a:defRPr>
            </a:lvl1pPr>
          </a:lstStyle>
          <a:p>
            <a:pPr/>
            <a:r>
              <a:t>Joint simulation + real training, 3 variants</a:t>
            </a:r>
          </a:p>
        </p:txBody>
      </p:sp>
      <p:sp>
        <p:nvSpPr>
          <p:cNvPr id="537" name="TextBox 23"/>
          <p:cNvSpPr txBox="1"/>
          <p:nvPr/>
        </p:nvSpPr>
        <p:spPr>
          <a:xfrm>
            <a:off x="8869679" y="4626888"/>
            <a:ext cx="2651761"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700">
                <a:solidFill>
                  <a:srgbClr val="CA6F1E"/>
                </a:solidFill>
                <a:latin typeface="Arial"/>
                <a:ea typeface="Arial"/>
                <a:cs typeface="Arial"/>
                <a:sym typeface="Arial"/>
              </a:defRPr>
            </a:lvl1pPr>
          </a:lstStyle>
          <a:p>
            <a:pPr/>
            <a:r>
              <a:t>0</a:t>
            </a:r>
          </a:p>
        </p:txBody>
      </p:sp>
      <p:sp>
        <p:nvSpPr>
          <p:cNvPr id="538" name="TextBox 24"/>
          <p:cNvSpPr txBox="1"/>
          <p:nvPr/>
        </p:nvSpPr>
        <p:spPr>
          <a:xfrm>
            <a:off x="841248" y="5202985"/>
            <a:ext cx="10543032"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000">
                <a:solidFill>
                  <a:srgbClr val="1A2E4A"/>
                </a:solidFill>
                <a:latin typeface="Arial"/>
                <a:ea typeface="Arial"/>
                <a:cs typeface="Arial"/>
                <a:sym typeface="Arial"/>
              </a:defRPr>
            </a:lvl1pPr>
          </a:lstStyle>
          <a:p>
            <a:pPr/>
            <a:r>
              <a:t>Each one closes a direction with a measurement rather than an opinion.</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Rectangle 1"/>
          <p:cNvSpPr/>
          <p:nvPr/>
        </p:nvSpPr>
        <p:spPr>
          <a:xfrm>
            <a:off x="-1" y="0"/>
            <a:ext cx="12188954" cy="6858000"/>
          </a:xfrm>
          <a:prstGeom prst="rect">
            <a:avLst/>
          </a:prstGeom>
          <a:solidFill>
            <a:srgbClr val="F4F6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43" name="Rectangle 2"/>
          <p:cNvSpPr/>
          <p:nvPr/>
        </p:nvSpPr>
        <p:spPr>
          <a:xfrm>
            <a:off x="-1" y="-1"/>
            <a:ext cx="12188954" cy="1051562"/>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44" name="Rectangle 3"/>
          <p:cNvSpPr/>
          <p:nvPr/>
        </p:nvSpPr>
        <p:spPr>
          <a:xfrm>
            <a:off x="-1" y="1051560"/>
            <a:ext cx="12188954" cy="73153"/>
          </a:xfrm>
          <a:prstGeom prst="rect">
            <a:avLst/>
          </a:prstGeom>
          <a:solidFill>
            <a:srgbClr val="2E86C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45" name="TextBox 4"/>
          <p:cNvSpPr txBox="1"/>
          <p:nvPr/>
        </p:nvSpPr>
        <p:spPr>
          <a:xfrm>
            <a:off x="502919" y="164592"/>
            <a:ext cx="11183113" cy="5107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000">
                <a:solidFill>
                  <a:srgbClr val="FFFFFF"/>
                </a:solidFill>
                <a:latin typeface="Arial"/>
                <a:ea typeface="Arial"/>
                <a:cs typeface="Arial"/>
                <a:sym typeface="Arial"/>
              </a:defRPr>
            </a:lvl1pPr>
          </a:lstStyle>
          <a:p>
            <a:pPr/>
            <a:r>
              <a:t>Where We Are and What Is Next</a:t>
            </a:r>
          </a:p>
        </p:txBody>
      </p:sp>
      <p:sp>
        <p:nvSpPr>
          <p:cNvPr id="546" name="TextBox 5"/>
          <p:cNvSpPr txBox="1"/>
          <p:nvPr/>
        </p:nvSpPr>
        <p:spPr>
          <a:xfrm>
            <a:off x="521207" y="658368"/>
            <a:ext cx="11183113"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D6E4F0"/>
                </a:solidFill>
                <a:latin typeface="Arial"/>
                <a:ea typeface="Arial"/>
                <a:cs typeface="Arial"/>
                <a:sym typeface="Arial"/>
              </a:defRPr>
            </a:lvl1pPr>
          </a:lstStyle>
          <a:p>
            <a:pPr/>
            <a:r>
              <a:t>24 September 2026</a:t>
            </a:r>
          </a:p>
        </p:txBody>
      </p:sp>
      <p:sp>
        <p:nvSpPr>
          <p:cNvPr id="547" name="Rectangle 6"/>
          <p:cNvSpPr/>
          <p:nvPr/>
        </p:nvSpPr>
        <p:spPr>
          <a:xfrm>
            <a:off x="-1" y="6537959"/>
            <a:ext cx="12188954" cy="320041"/>
          </a:xfrm>
          <a:prstGeom prst="rect">
            <a:avLst/>
          </a:prstGeom>
          <a:solidFill>
            <a:srgbClr val="558ED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48" name="TextBox 7"/>
          <p:cNvSpPr txBox="1"/>
          <p:nvPr/>
        </p:nvSpPr>
        <p:spPr>
          <a:xfrm>
            <a:off x="457199" y="6565392"/>
            <a:ext cx="11274553"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6E4F0"/>
                </a:solidFill>
                <a:latin typeface="Arial"/>
                <a:ea typeface="Arial"/>
                <a:cs typeface="Arial"/>
                <a:sym typeface="Arial"/>
              </a:defRPr>
            </a:lvl1pPr>
          </a:lstStyle>
          <a:p>
            <a:pPr/>
            <a:r>
              <a:t>UGP  |  NeurIPS 2026 RealPDE Competition, Track 1 (Sim2Real)</a:t>
            </a:r>
          </a:p>
        </p:txBody>
      </p:sp>
      <p:sp>
        <p:nvSpPr>
          <p:cNvPr id="549" name="TextBox 8"/>
          <p:cNvSpPr txBox="1"/>
          <p:nvPr/>
        </p:nvSpPr>
        <p:spPr>
          <a:xfrm>
            <a:off x="10863071" y="6565392"/>
            <a:ext cx="82296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200">
                <a:solidFill>
                  <a:srgbClr val="FFFFFF"/>
                </a:solidFill>
                <a:latin typeface="Arial"/>
                <a:ea typeface="Arial"/>
                <a:cs typeface="Arial"/>
                <a:sym typeface="Arial"/>
              </a:defRPr>
            </a:lvl1pPr>
          </a:lstStyle>
          <a:p>
            <a:pPr/>
            <a:r>
              <a:t>21 / 21</a:t>
            </a:r>
          </a:p>
        </p:txBody>
      </p:sp>
      <p:sp>
        <p:nvSpPr>
          <p:cNvPr id="550" name="Rectangle 9"/>
          <p:cNvSpPr/>
          <p:nvPr/>
        </p:nvSpPr>
        <p:spPr>
          <a:xfrm>
            <a:off x="466343" y="1371600"/>
            <a:ext cx="2731772" cy="10515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51" name="TextBox 10"/>
          <p:cNvSpPr txBox="1"/>
          <p:nvPr/>
        </p:nvSpPr>
        <p:spPr>
          <a:xfrm>
            <a:off x="512063" y="1499616"/>
            <a:ext cx="2640332" cy="47433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600">
                <a:solidFill>
                  <a:srgbClr val="1E8B4C"/>
                </a:solidFill>
                <a:latin typeface="Arial"/>
                <a:ea typeface="Arial"/>
                <a:cs typeface="Arial"/>
                <a:sym typeface="Arial"/>
              </a:defRPr>
            </a:lvl1pPr>
          </a:lstStyle>
          <a:p>
            <a:pPr/>
            <a:r>
              <a:t>80.081</a:t>
            </a:r>
          </a:p>
        </p:txBody>
      </p:sp>
      <p:sp>
        <p:nvSpPr>
          <p:cNvPr id="552" name="TextBox 11"/>
          <p:cNvSpPr txBox="1"/>
          <p:nvPr/>
        </p:nvSpPr>
        <p:spPr>
          <a:xfrm>
            <a:off x="512063" y="1975104"/>
            <a:ext cx="2640332"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200">
                <a:solidFill>
                  <a:srgbClr val="2C3E50"/>
                </a:solidFill>
                <a:latin typeface="Arial"/>
                <a:ea typeface="Arial"/>
                <a:cs typeface="Arial"/>
                <a:sym typeface="Arial"/>
              </a:defRPr>
            </a:lvl1pPr>
          </a:lstStyle>
          <a:p>
            <a:pPr/>
            <a:r>
              <a:t>our score</a:t>
            </a:r>
          </a:p>
        </p:txBody>
      </p:sp>
      <p:sp>
        <p:nvSpPr>
          <p:cNvPr id="553" name="Rectangle 12"/>
          <p:cNvSpPr/>
          <p:nvPr/>
        </p:nvSpPr>
        <p:spPr>
          <a:xfrm>
            <a:off x="3307841" y="1371600"/>
            <a:ext cx="2731771" cy="10515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54" name="TextBox 13"/>
          <p:cNvSpPr txBox="1"/>
          <p:nvPr/>
        </p:nvSpPr>
        <p:spPr>
          <a:xfrm>
            <a:off x="3353561" y="1499616"/>
            <a:ext cx="2640332" cy="47433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600">
                <a:solidFill>
                  <a:srgbClr val="2C3E50"/>
                </a:solidFill>
                <a:latin typeface="Arial"/>
                <a:ea typeface="Arial"/>
                <a:cs typeface="Arial"/>
                <a:sym typeface="Arial"/>
              </a:defRPr>
            </a:lvl1pPr>
          </a:lstStyle>
          <a:p>
            <a:pPr/>
            <a:r>
              <a:t>82.101</a:t>
            </a:r>
          </a:p>
        </p:txBody>
      </p:sp>
      <p:sp>
        <p:nvSpPr>
          <p:cNvPr id="555" name="TextBox 14"/>
          <p:cNvSpPr txBox="1"/>
          <p:nvPr/>
        </p:nvSpPr>
        <p:spPr>
          <a:xfrm>
            <a:off x="3353561" y="1975104"/>
            <a:ext cx="2640332"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200">
                <a:solidFill>
                  <a:srgbClr val="2C3E50"/>
                </a:solidFill>
                <a:latin typeface="Arial"/>
                <a:ea typeface="Arial"/>
                <a:cs typeface="Arial"/>
                <a:sym typeface="Arial"/>
              </a:defRPr>
            </a:lvl1pPr>
          </a:lstStyle>
          <a:p>
            <a:pPr/>
            <a:r>
              <a:t>rank 1</a:t>
            </a:r>
          </a:p>
        </p:txBody>
      </p:sp>
      <p:sp>
        <p:nvSpPr>
          <p:cNvPr id="556" name="Rectangle 15"/>
          <p:cNvSpPr/>
          <p:nvPr/>
        </p:nvSpPr>
        <p:spPr>
          <a:xfrm>
            <a:off x="6149340" y="1371600"/>
            <a:ext cx="2731771" cy="10515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57" name="TextBox 16"/>
          <p:cNvSpPr txBox="1"/>
          <p:nvPr/>
        </p:nvSpPr>
        <p:spPr>
          <a:xfrm>
            <a:off x="6195060" y="1499616"/>
            <a:ext cx="2640331" cy="47433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600">
                <a:solidFill>
                  <a:srgbClr val="CA6F1E"/>
                </a:solidFill>
                <a:latin typeface="Arial"/>
                <a:ea typeface="Arial"/>
                <a:cs typeface="Arial"/>
                <a:sym typeface="Arial"/>
              </a:defRPr>
            </a:lvl1pPr>
          </a:lstStyle>
          <a:p>
            <a:pPr/>
            <a:r>
              <a:t>81.765</a:t>
            </a:r>
          </a:p>
        </p:txBody>
      </p:sp>
      <p:sp>
        <p:nvSpPr>
          <p:cNvPr id="558" name="TextBox 17"/>
          <p:cNvSpPr txBox="1"/>
          <p:nvPr/>
        </p:nvSpPr>
        <p:spPr>
          <a:xfrm>
            <a:off x="6195060" y="1975104"/>
            <a:ext cx="264033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200">
                <a:solidFill>
                  <a:srgbClr val="2C3E50"/>
                </a:solidFill>
                <a:latin typeface="Arial"/>
                <a:ea typeface="Arial"/>
                <a:cs typeface="Arial"/>
                <a:sym typeface="Arial"/>
              </a:defRPr>
            </a:lvl1pPr>
          </a:lstStyle>
          <a:p>
            <a:pPr/>
            <a:r>
              <a:t>top-10 cutoff</a:t>
            </a:r>
          </a:p>
        </p:txBody>
      </p:sp>
      <p:sp>
        <p:nvSpPr>
          <p:cNvPr id="559" name="Rectangle 18"/>
          <p:cNvSpPr/>
          <p:nvPr/>
        </p:nvSpPr>
        <p:spPr>
          <a:xfrm>
            <a:off x="8990838" y="1371600"/>
            <a:ext cx="2731771" cy="1051561"/>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60" name="TextBox 19"/>
          <p:cNvSpPr txBox="1"/>
          <p:nvPr/>
        </p:nvSpPr>
        <p:spPr>
          <a:xfrm>
            <a:off x="9036557" y="1499616"/>
            <a:ext cx="2640331" cy="47433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600">
                <a:solidFill>
                  <a:srgbClr val="1F4E79"/>
                </a:solidFill>
                <a:latin typeface="Arial"/>
                <a:ea typeface="Arial"/>
                <a:cs typeface="Arial"/>
                <a:sym typeface="Arial"/>
              </a:defRPr>
            </a:lvl1pPr>
          </a:lstStyle>
          <a:p>
            <a:pPr/>
            <a:r>
              <a:t>61</a:t>
            </a:r>
          </a:p>
        </p:txBody>
      </p:sp>
      <p:sp>
        <p:nvSpPr>
          <p:cNvPr id="561" name="TextBox 20"/>
          <p:cNvSpPr txBox="1"/>
          <p:nvPr/>
        </p:nvSpPr>
        <p:spPr>
          <a:xfrm>
            <a:off x="9036557" y="1975104"/>
            <a:ext cx="2640331"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200">
                <a:solidFill>
                  <a:srgbClr val="2C3E50"/>
                </a:solidFill>
                <a:latin typeface="Arial"/>
                <a:ea typeface="Arial"/>
                <a:cs typeface="Arial"/>
                <a:sym typeface="Arial"/>
              </a:defRPr>
            </a:lvl1pPr>
          </a:lstStyle>
          <a:p>
            <a:pPr/>
            <a:r>
              <a:t>Leaderboard rank</a:t>
            </a:r>
          </a:p>
        </p:txBody>
      </p:sp>
      <p:sp>
        <p:nvSpPr>
          <p:cNvPr id="562" name="Rectangle 21"/>
          <p:cNvSpPr/>
          <p:nvPr/>
        </p:nvSpPr>
        <p:spPr>
          <a:xfrm>
            <a:off x="411480" y="2651760"/>
            <a:ext cx="5545836" cy="3794760"/>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63" name="TextBox 22"/>
          <p:cNvSpPr txBox="1"/>
          <p:nvPr/>
        </p:nvSpPr>
        <p:spPr>
          <a:xfrm>
            <a:off x="685800" y="2788920"/>
            <a:ext cx="4997196"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CA6F1E"/>
                </a:solidFill>
                <a:latin typeface="Arial"/>
                <a:ea typeface="Arial"/>
                <a:cs typeface="Arial"/>
                <a:sym typeface="Arial"/>
              </a:defRPr>
            </a:lvl1pPr>
          </a:lstStyle>
          <a:p>
            <a:pPr/>
            <a:r>
              <a:t>The ceiling, measured</a:t>
            </a:r>
          </a:p>
        </p:txBody>
      </p:sp>
      <p:sp>
        <p:nvSpPr>
          <p:cNvPr id="564" name="TextBox 23"/>
          <p:cNvSpPr txBox="1"/>
          <p:nvPr/>
        </p:nvSpPr>
        <p:spPr>
          <a:xfrm>
            <a:off x="777240" y="3291840"/>
            <a:ext cx="4814316" cy="846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700">
                <a:solidFill>
                  <a:srgbClr val="1A2E4A"/>
                </a:solidFill>
                <a:latin typeface="Arial"/>
                <a:ea typeface="Arial"/>
                <a:cs typeface="Arial"/>
                <a:sym typeface="Arial"/>
              </a:defRPr>
            </a:pPr>
            <a:r>
              <a:t>Even a mathematically PERFECT uncertainty model scores 81.727 </a:t>
            </a:r>
            <a:r>
              <a:t>-</a:t>
            </a:r>
            <a:r>
              <a:t> still below the 81.765 cutoff.</a:t>
            </a:r>
          </a:p>
        </p:txBody>
      </p:sp>
      <p:sp>
        <p:nvSpPr>
          <p:cNvPr id="565" name="TextBox 24"/>
          <p:cNvSpPr txBox="1"/>
          <p:nvPr/>
        </p:nvSpPr>
        <p:spPr>
          <a:xfrm>
            <a:off x="777240" y="4389120"/>
            <a:ext cx="4814316" cy="5170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500">
                <a:solidFill>
                  <a:srgbClr val="2C3E50"/>
                </a:solidFill>
                <a:latin typeface="Arial"/>
                <a:ea typeface="Arial"/>
                <a:cs typeface="Arial"/>
                <a:sym typeface="Arial"/>
              </a:defRPr>
            </a:pPr>
            <a:r>
              <a:t>So a top-10 place provably requires a better underlying model, not better bounds</a:t>
            </a:r>
            <a:r>
              <a:t>, </a:t>
            </a:r>
            <a:r>
              <a:t>and the model is converged.</a:t>
            </a:r>
          </a:p>
        </p:txBody>
      </p:sp>
      <p:sp>
        <p:nvSpPr>
          <p:cNvPr id="566" name="Rectangle 25"/>
          <p:cNvSpPr/>
          <p:nvPr/>
        </p:nvSpPr>
        <p:spPr>
          <a:xfrm>
            <a:off x="6231635" y="2651760"/>
            <a:ext cx="5545837" cy="3794760"/>
          </a:xfrm>
          <a:prstGeom prst="rect">
            <a:avLst/>
          </a:prstGeom>
          <a:solidFill>
            <a:srgbClr val="FFFFFF"/>
          </a:solidFill>
          <a:ln w="12700">
            <a:solidFill>
              <a:srgbClr val="D6E4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67" name="TextBox 26"/>
          <p:cNvSpPr txBox="1"/>
          <p:nvPr/>
        </p:nvSpPr>
        <p:spPr>
          <a:xfrm>
            <a:off x="6505955" y="2788920"/>
            <a:ext cx="4997197" cy="3629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1E8B4C"/>
                </a:solidFill>
                <a:latin typeface="Arial"/>
                <a:ea typeface="Arial"/>
                <a:cs typeface="Arial"/>
                <a:sym typeface="Arial"/>
              </a:defRPr>
            </a:lvl1pPr>
          </a:lstStyle>
          <a:p>
            <a:pPr/>
            <a:r>
              <a:t>Next</a:t>
            </a:r>
          </a:p>
        </p:txBody>
      </p:sp>
      <p:sp>
        <p:nvSpPr>
          <p:cNvPr id="568" name="TextBox 27"/>
          <p:cNvSpPr txBox="1"/>
          <p:nvPr/>
        </p:nvSpPr>
        <p:spPr>
          <a:xfrm>
            <a:off x="6551676" y="3246118"/>
            <a:ext cx="4860036" cy="1532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400"/>
              </a:spcBef>
              <a:defRPr sz="1600">
                <a:solidFill>
                  <a:srgbClr val="2C3E50"/>
                </a:solidFill>
                <a:latin typeface="Arial"/>
                <a:ea typeface="Arial"/>
                <a:cs typeface="Arial"/>
                <a:sym typeface="Arial"/>
              </a:defRPr>
            </a:pPr>
            <a:r>
              <a:t>•  Ship the final calibrated submission (~80.11).</a:t>
            </a:r>
          </a:p>
          <a:p>
            <a:pPr>
              <a:spcBef>
                <a:spcPts val="1400"/>
              </a:spcBef>
              <a:defRPr sz="1600">
                <a:solidFill>
                  <a:srgbClr val="2C3E50"/>
                </a:solidFill>
                <a:latin typeface="Arial"/>
                <a:ea typeface="Arial"/>
                <a:cs typeface="Arial"/>
                <a:sym typeface="Arial"/>
              </a:defRPr>
            </a:pPr>
            <a:r>
              <a:t>• Explore other(if any) routes remaining.</a:t>
            </a:r>
          </a:p>
          <a:p>
            <a:pPr>
              <a:spcBef>
                <a:spcPts val="1400"/>
              </a:spcBef>
              <a:defRPr sz="1600">
                <a:solidFill>
                  <a:srgbClr val="2C3E50"/>
                </a:solidFill>
                <a:latin typeface="Arial"/>
                <a:ea typeface="Arial"/>
                <a:cs typeface="Arial"/>
                <a:sym typeface="Arial"/>
              </a:defRPr>
            </a:pPr>
            <a:r>
              <a:t>•  Rebuild the uncertainty stack on it.</a:t>
            </a:r>
          </a:p>
          <a:p>
            <a:pPr>
              <a:spcBef>
                <a:spcPts val="1400"/>
              </a:spcBef>
              <a:defRPr sz="1600">
                <a:solidFill>
                  <a:srgbClr val="2C3E50"/>
                </a:solidFill>
                <a:latin typeface="Arial"/>
                <a:ea typeface="Arial"/>
                <a:cs typeface="Arial"/>
                <a:sym typeface="Arial"/>
              </a:defRPr>
            </a:pPr>
            <a:r>
              <a:t>•  Write up the calibration finding.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